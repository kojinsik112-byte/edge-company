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6FEB"/>
                </a:solidFill>
                <a:latin typeface="맑은 고딕"/>
              </a:rPr>
              <a:t>EDGE COMPANY CO.,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3258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6678"/>
                </a:solidFill>
                <a:latin typeface="맑은 고딕"/>
              </a:rPr>
              <a:t>ACRO 스마트홈 제품 제조·공급  ·  스마트홈 시스템 개발  ·  실내/경관 조명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B6678"/>
                </a:solidFill>
                <a:latin typeface="맑은 고딕"/>
              </a:rPr>
              <a:t>指 名 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1A2230"/>
                </a:solidFill>
                <a:latin typeface="맑은 고딕"/>
              </a:rPr>
              <a:t>지  명  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914400" cy="64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A2230"/>
                </a:solidFill>
                <a:latin typeface="맑은 고딕"/>
              </a:rPr>
              <a:t>㈜엣지컴퍼니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5B6678"/>
                </a:solidFill>
                <a:latin typeface="맑은 고딕"/>
              </a:rPr>
              <a:t>ACRO 스마트홈 제품 제조·공급 · 스마트홈 시스템 자체 개발 · 실내/경관 조명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806440"/>
            <a:ext cx="10332720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B6678"/>
                </a:solidFill>
                <a:latin typeface="맑은 고딕"/>
              </a:rPr>
              <a:t>울산광역시 울주군 청량읍 상남1길 28, 2동  ·  전국 22개 지사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5B6678"/>
                </a:solidFill>
                <a:latin typeface="맑은 고딕"/>
              </a:rPr>
              <a:t>대표이사 고진식   |   대표번호 1533-3210 · 010-3345-6107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943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1A2230"/>
                </a:solidFill>
                <a:latin typeface="맑은 고딕"/>
              </a:rPr>
              <a:t>제출처  각종 건설사·시행사 귀중</a:t>
            </a:r>
          </a:p>
          <a:p>
            <a:pPr algn="r">
              <a:lnSpc>
                <a:spcPct val="130000"/>
              </a:lnSpc>
            </a:pPr>
            <a:r>
              <a:rPr sz="1050" b="0">
                <a:solidFill>
                  <a:srgbClr val="5B6678"/>
                </a:solidFill>
                <a:latin typeface="맑은 고딕"/>
              </a:rPr>
              <a:t>2026. __. 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01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회사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Company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A4456"/>
                </a:solidFill>
                <a:latin typeface="맑은 고딕"/>
              </a:rPr>
              <a:t>㈜엣지컴퍼니는 자체 스마트홈 브랜드 </a:t>
            </a:r>
            <a:r>
              <a:rPr sz="1250" b="1">
                <a:solidFill>
                  <a:srgbClr val="1A2230"/>
                </a:solidFill>
                <a:latin typeface="맑은 고딕"/>
              </a:rPr>
              <a:t>ACRO(아크로)</a:t>
            </a:r>
            <a:r>
              <a:rPr sz="1250" b="0">
                <a:solidFill>
                  <a:srgbClr val="3A4456"/>
                </a:solidFill>
                <a:latin typeface="맑은 고딕"/>
              </a:rPr>
              <a:t>를 직접 제조·공급하고,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3A4456"/>
                </a:solidFill>
                <a:latin typeface="맑은 고딕"/>
              </a:rPr>
              <a:t>실링팬·전동커튼·스위치·조명 디밍을 </a:t>
            </a:r>
            <a:r>
              <a:rPr sz="1250" b="1">
                <a:solidFill>
                  <a:srgbClr val="1A2230"/>
                </a:solidFill>
                <a:latin typeface="맑은 고딕"/>
              </a:rPr>
              <a:t>하나의 앱으로 통합 제어하는 스마트홈 시스템을 국내 최초로 자체 개발</a:t>
            </a:r>
            <a:r>
              <a:rPr sz="1250" b="0">
                <a:solidFill>
                  <a:srgbClr val="3A4456"/>
                </a:solidFill>
                <a:latin typeface="맑은 고딕"/>
              </a:rPr>
              <a:t>한 회사입니다.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3A4456"/>
                </a:solidFill>
                <a:latin typeface="맑은 고딕"/>
              </a:rPr>
              <a:t>실내조명·실외 경관조명의 설계·시공·납품까지 일괄 수행하며, 공동구매를 통해 다수 입주 단지에 제품을 공급해 왔습니다.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6FEB"/>
                </a:solidFill>
                <a:latin typeface="맑은 고딕"/>
              </a:rPr>
              <a:t>19,294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공동구매 공급 세대수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38328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529584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6FEB"/>
                </a:solidFill>
                <a:latin typeface="맑은 고딕"/>
              </a:rPr>
              <a:t>52억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0233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매출액 (최근)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529584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6FEB"/>
                </a:solidFill>
                <a:latin typeface="맑은 고딕"/>
              </a:rPr>
              <a:t>BB /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0233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신용 / 현금흐름 (NICE D&amp;B)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338328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3529584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6FEB"/>
                </a:solidFill>
                <a:latin typeface="맑은 고딕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40233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전국 지사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230"/>
                </a:solidFill>
                <a:latin typeface="맑은 고딕"/>
              </a:rPr>
              <a:t>3대 핵심 역량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29200"/>
            <a:ext cx="201168" cy="2926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44068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56235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🌀 ACRO 제품 제조·공급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6007608"/>
            <a:ext cx="31638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8"/>
                </a:solidFill>
                <a:latin typeface="맑은 고딕"/>
              </a:rPr>
              <a:t>실링팬·조명·스위치·전동커튼·욕실 전열교환기를 자체 브랜드로 제조·공급.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544068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56235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📱 스마트홈 시스템 개발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6007608"/>
            <a:ext cx="31638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8"/>
                </a:solidFill>
                <a:latin typeface="맑은 고딕"/>
              </a:rPr>
              <a:t>팬·커튼·스위치·조명디밍 통합 앱 국내 최초 자체 개발.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544068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5623560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💡 실내·경관 조명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6007608"/>
            <a:ext cx="311810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8"/>
                </a:solidFill>
                <a:latin typeface="맑은 고딕"/>
              </a:rPr>
              <a:t>주거·상업 실내조명 + 건물 외관 경관조명 설계·시공·납품.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02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일반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Company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274320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상호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783080"/>
            <a:ext cx="81838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78308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㈜엣지컴퍼니 (Edge Company Co., Ltd.)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274320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대표이사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240280"/>
            <a:ext cx="81838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24028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고진식  (주주: 고진식 70% · 박은지 30%)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97480"/>
            <a:ext cx="274320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974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설립일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697480"/>
            <a:ext cx="81838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269748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2022년 2월 28일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54680"/>
            <a:ext cx="274320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사업자등록번호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154680"/>
            <a:ext cx="81838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5468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508-81-42798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274320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법인등록번호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611880"/>
            <a:ext cx="81838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361188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230111-0369271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69080"/>
            <a:ext cx="274320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069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본사 소재지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4069080"/>
            <a:ext cx="81838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406908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울산광역시 울주군 청량읍 상남1길 28, 2동  ·  전국 22개 지사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526280"/>
            <a:ext cx="274320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5262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자본금 / 상시인원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526280"/>
            <a:ext cx="81838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452628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2억 원 (1주 10,000원 × 20,000주) / 14명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983480"/>
            <a:ext cx="274320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9834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주요 사업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4983480"/>
            <a:ext cx="81838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47872" y="498348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ACRO 스마트홈 제품 제조·공급 · 스마트홈 시스템 개발 · 실내/경관 조명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440680"/>
            <a:ext cx="274320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4406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대표번호 / 대표이사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5440680"/>
            <a:ext cx="818387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47872" y="544068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1533-3210  ·  010-3345-6107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6007608"/>
            <a:ext cx="10927080" cy="54864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1" y="6117336"/>
            <a:ext cx="10597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F4D63"/>
                </a:solidFill>
                <a:latin typeface="맑은 고딕"/>
              </a:rPr>
              <a:t>대표이사 고진식 — 온산 대한유화 10년 근무 후 창업, 저서 『사람 덕분에 여기까지 왔습니다』. 제조부터 현장까지 직접 챙기는 실무형 경영.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03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보유 면허 · 자격 · 인증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Licenses &amp; Certifications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면허 · 등록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82880" cy="274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292608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전기공사업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423160"/>
            <a:ext cx="800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4231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제 울산-00821호 (2022.05.04 · 울산광역시장) — 조명 설치 전기결선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292608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한국전기공사협회 회원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880360"/>
            <a:ext cx="800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8803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제00362호 (2022.05.09 · 정회원)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292608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건설업 / 소방시설업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337560"/>
            <a:ext cx="8001000" cy="457200"/>
          </a:xfrm>
          <a:prstGeom prst="rect">
            <a:avLst/>
          </a:prstGeom>
          <a:solidFill>
            <a:srgbClr val="FFF7DA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33375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A5D00"/>
                </a:solidFill>
                <a:latin typeface="맑은 고딕"/>
              </a:rPr>
              <a:t>[ 실제 등록번호 회장 확정 — KISCON 대조됨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59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경영시스템 인증 · 신용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79392"/>
            <a:ext cx="182880" cy="274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663440"/>
            <a:ext cx="2926080" cy="420624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63440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ISO 9001:2015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4663440"/>
            <a:ext cx="8001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0752" y="4663440"/>
            <a:ext cx="7772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품질경영시스템 (KS Q ISO 9001:2015)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84064"/>
            <a:ext cx="2926080" cy="420624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84064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ISO 14001:2015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5084064"/>
            <a:ext cx="8001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0752" y="5084064"/>
            <a:ext cx="7772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환경경영시스템 (KS I ISO 14001:2015)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504688"/>
            <a:ext cx="2926080" cy="420624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50468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ISO 45001:2018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5504688"/>
            <a:ext cx="8001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0752" y="5504688"/>
            <a:ext cx="7772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안전보건경영시스템 (KS Q ISO 45001:2018)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925312"/>
            <a:ext cx="2926080" cy="420624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925312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신용평가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5925312"/>
            <a:ext cx="8001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30752" y="5925312"/>
            <a:ext cx="7772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NICE디앤비 종합신용등급 BB · 현금흐름등급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04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조직 &amp; 인력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72800" cy="2468880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32380"/>
            <a:ext cx="10972800" cy="1728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7F8BA0"/>
                </a:solidFill>
                <a:latin typeface="맑은 고딕"/>
              </a:rPr>
              <a:t>🗂️</a:t>
            </a:r>
          </a:p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조직도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2A0B5"/>
                </a:solidFill>
                <a:latin typeface="맑은 고딕"/>
              </a:rPr>
              <a:t>대표이사 고진식 → [경영지원] [영업] [조명 시공본부] [ACRO 제품·생산본부] [스마트홈 개발] → 전국 22개 지사망</a:t>
            </a:r>
          </a:p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F6FEB"/>
                </a:solidFill>
                <a:latin typeface="맑은 고딕"/>
              </a:rPr>
              <a:t>▣ ChatGPT/PPT 도형으로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230"/>
                </a:solidFill>
                <a:latin typeface="맑은 고딕"/>
              </a:rPr>
              <a:t>기술 · 시공 인력 현황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36592"/>
            <a:ext cx="201168" cy="274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5166360"/>
            <a:ext cx="2697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32180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6FEB"/>
                </a:solidFill>
                <a:latin typeface="맑은 고딕"/>
              </a:rPr>
              <a:t>5명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B6678"/>
                </a:solidFill>
                <a:latin typeface="맑은 고딕"/>
              </a:rPr>
              <a:t>전기공사기술사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5166360"/>
            <a:ext cx="2697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532180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6FEB"/>
                </a:solidFill>
                <a:latin typeface="맑은 고딕"/>
              </a:rPr>
              <a:t>3명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58521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B6678"/>
                </a:solidFill>
                <a:latin typeface="맑은 고딕"/>
              </a:rPr>
              <a:t>조명·조도 설계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5166360"/>
            <a:ext cx="2697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532180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6FEB"/>
                </a:solidFill>
                <a:latin typeface="맑은 고딕"/>
              </a:rPr>
              <a:t>본사 8 · 지사 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58521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B6678"/>
                </a:solidFill>
                <a:latin typeface="맑은 고딕"/>
              </a:rPr>
              <a:t>시공팀·기능공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5166360"/>
            <a:ext cx="2697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532180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6FEB"/>
                </a:solidFill>
                <a:latin typeface="맑은 고딕"/>
              </a:rPr>
              <a:t>2명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58521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B6678"/>
                </a:solidFill>
                <a:latin typeface="맑은 고딕"/>
              </a:rPr>
              <a:t>견적·적산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05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사업 · 제품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Business &amp; Product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685800" cy="68580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F6FEB"/>
                </a:solidFill>
                <a:latin typeface="맑은 고딕"/>
              </a:rPr>
              <a:t>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4884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230"/>
                </a:solidFill>
                <a:latin typeface="맑은 고딕"/>
              </a:rPr>
              <a:t>ACRO 제품 제조·공급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9748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678"/>
                </a:solidFill>
                <a:latin typeface="맑은 고딕"/>
              </a:rPr>
              <a:t>실링팬·조명·스위치·전동커튼·욕실 전열교환기를 자체 브랜드로 제조·공급.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685800" cy="68580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F6FEB"/>
                </a:solidFill>
                <a:latin typeface="맑은 고딕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4884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230"/>
                </a:solidFill>
                <a:latin typeface="맑은 고딕"/>
              </a:rPr>
              <a:t>스마트홈 시스템 개발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9748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678"/>
                </a:solidFill>
                <a:latin typeface="맑은 고딕"/>
              </a:rPr>
              <a:t>팬·커튼·스위치·조명 디밍을 하나의 앱으로 통합 제어 — 국내 최초 자체 개발.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251959"/>
            <a:ext cx="685800" cy="68580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F6FEB"/>
                </a:solidFill>
                <a:latin typeface="맑은 고딕"/>
              </a:rPr>
              <a:t>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3434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230"/>
                </a:solidFill>
                <a:latin typeface="맑은 고딕"/>
              </a:rPr>
              <a:t>실내조명 시공·납품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89204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678"/>
                </a:solidFill>
                <a:latin typeface="맑은 고딕"/>
              </a:rPr>
              <a:t>주거·상업공간 조도·색온도 설계와 조명 설치·납품. 실링팬·디밍 조명 일괄.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977639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4251959"/>
            <a:ext cx="685800" cy="68580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251959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F6FEB"/>
                </a:solidFill>
                <a:latin typeface="맑은 고딕"/>
              </a:rPr>
              <a:t>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3434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230"/>
                </a:solidFill>
                <a:latin typeface="맑은 고딕"/>
              </a:rPr>
              <a:t>실외 경관조명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89204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678"/>
                </a:solidFill>
                <a:latin typeface="맑은 고딕"/>
              </a:rPr>
              <a:t>건물 외관·단지 야간 경관조명 설계·시공. 단지 랜드마크화·야간 가치 향상.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06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공동구매 공급 연혁 —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Group-Purchase Supply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A4456"/>
                </a:solidFill>
                <a:latin typeface="맑은 고딕"/>
              </a:rPr>
              <a:t>입주 단지 공동구매를 통해 ACRO·조명 제품을 공급한 연혁입니다. </a:t>
            </a:r>
            <a:r>
              <a:rPr sz="1250" b="1">
                <a:solidFill>
                  <a:srgbClr val="1A2230"/>
                </a:solidFill>
                <a:latin typeface="맑은 고딕"/>
              </a:rPr>
              <a:t>사송신도시 90% · 에코델타시티 90% 수임.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468880"/>
          <a:ext cx="10972800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4206240"/>
                <a:gridCol w="237744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연도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단지 수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총 세대수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1,000세대↑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2024년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[ 단지 목록 회장 확정 ]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2025년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10개 단지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10,146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2026년 (확정)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12개 단지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9,148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754880"/>
            <a:ext cx="2619756" cy="8686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82896"/>
            <a:ext cx="26197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21808"/>
            <a:ext cx="26197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ADCFC"/>
                </a:solidFill>
                <a:latin typeface="맑은 고딕"/>
              </a:rPr>
              <a:t>'25~'26 누적 단지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4428" y="4754880"/>
            <a:ext cx="2619756" cy="8686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4428" y="4882896"/>
            <a:ext cx="26197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19,294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4428" y="5321808"/>
            <a:ext cx="26197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ADCFC"/>
                </a:solidFill>
                <a:latin typeface="맑은 고딕"/>
              </a:rPr>
              <a:t>누적 세대수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4754880"/>
            <a:ext cx="2619756" cy="8686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4882896"/>
            <a:ext cx="26197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5321808"/>
            <a:ext cx="26197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ADCFC"/>
                </a:solidFill>
                <a:latin typeface="맑은 고딕"/>
              </a:rPr>
              <a:t>사송·에코델타 수임률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3124" y="4754880"/>
            <a:ext cx="2619756" cy="8686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3124" y="4882896"/>
            <a:ext cx="26197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3124" y="5321808"/>
            <a:ext cx="26197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ADCFC"/>
                </a:solidFill>
                <a:latin typeface="맑은 고딕"/>
              </a:rPr>
              <a:t>1,000세대↑ 대단지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97880"/>
            <a:ext cx="10972800" cy="50292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6007608"/>
            <a:ext cx="1064361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F4D63"/>
                </a:solidFill>
                <a:latin typeface="맑은 고딕"/>
              </a:rPr>
              <a:t>※ 2024년 단지 목록은 회장님 자료 입력 후 채웁니다. 2025·2026은 실제 수임실적 기준.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06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공동구매 공급 연혁 ① 2025년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Record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72800" cy="3483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/>
                <a:gridCol w="4206240"/>
                <a:gridCol w="3017520"/>
                <a:gridCol w="1554480"/>
                <a:gridCol w="13716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단지명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세대수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울산 유보라 신천매곡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울산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352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공동구매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춘천 중해마루 ★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강원 춘천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1">
                          <a:solidFill>
                            <a:srgbClr val="1F6FEB"/>
                          </a:solidFill>
                          <a:latin typeface="맑은 고딕"/>
                        </a:rPr>
                        <a:t>1,114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공동구매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양정자이 SK뷰 ★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부산진구 양정동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1">
                          <a:solidFill>
                            <a:srgbClr val="1F6FEB"/>
                          </a:solidFill>
                          <a:latin typeface="맑은 고딕"/>
                        </a:rPr>
                        <a:t>2,276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공동구매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에코델타시티 강서자이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856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공동구매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기장 유림노르웨이숲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기장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165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공동구매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두산위브 오션시티 ★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남구 우암동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1">
                          <a:solidFill>
                            <a:srgbClr val="1F6FEB"/>
                          </a:solidFill>
                          <a:latin typeface="맑은 고딕"/>
                        </a:rPr>
                        <a:t>2,205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공동구매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기장역 엘쿠르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기장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219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공동구매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에코델타시티 이편한세상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953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공동구매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 푸르지오린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886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공동구매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 대성베르힐 ★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1">
                          <a:solidFill>
                            <a:srgbClr val="1F6FEB"/>
                          </a:solidFill>
                          <a:latin typeface="맑은 고딕"/>
                        </a:rPr>
                        <a:t>1,120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공동구매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257800"/>
            <a:ext cx="3547872" cy="8686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85816"/>
            <a:ext cx="3547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24728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ADCFC"/>
                </a:solidFill>
                <a:latin typeface="맑은 고딕"/>
              </a:rPr>
              <a:t>공급 단지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5257800"/>
            <a:ext cx="3547872" cy="8686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5385816"/>
            <a:ext cx="3547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10,146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5824728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ADCFC"/>
                </a:solidFill>
                <a:latin typeface="맑은 고딕"/>
              </a:rPr>
              <a:t>총 세대수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5257800"/>
            <a:ext cx="3547872" cy="8686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5385816"/>
            <a:ext cx="3547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5824728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ADCFC"/>
                </a:solidFill>
                <a:latin typeface="맑은 고딕"/>
              </a:rPr>
              <a:t>1,000세대↑ 대단지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06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공동구매 공급 연혁 ② 2026년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Record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60" cy="3817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/>
                <a:gridCol w="4572000"/>
                <a:gridCol w="2651760"/>
                <a:gridCol w="1463040"/>
                <a:gridCol w="13716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단지명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세대수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3152" marR="54864" marT="27432" marB="27432" anchor="ctr">
                    <a:solidFill>
                      <a:srgbClr val="12347A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사송 데시앙 3차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양산 사송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672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확정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사송 LH 신혼희망타운 2차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양산 사송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479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확정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사송 더샵 3차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양산 사송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533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확정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사송 제일 풍경채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양산 사송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452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확정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사송 우미린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양산 사송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688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확정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사송 롯데캐슬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양산 사송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진행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 이편한세상 센터포인트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953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확정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 강서자이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856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확정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 푸르지오린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886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확정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 대성베르힐 ★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1">
                          <a:solidFill>
                            <a:srgbClr val="1F6FEB"/>
                          </a:solidFill>
                          <a:latin typeface="맑은 고딕"/>
                        </a:rPr>
                        <a:t>1,120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확정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 대방 디에트르(더퍼스트)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972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확정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 중흥S클래스(16블록) ★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1">
                          <a:solidFill>
                            <a:srgbClr val="1F6FEB"/>
                          </a:solidFill>
                          <a:latin typeface="맑은 고딕"/>
                        </a:rPr>
                        <a:t>1,067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진행</a:t>
                      </a:r>
                    </a:p>
                  </a:txBody>
                  <a:tcPr marL="73152" marR="54864" marT="27432" marB="27432" anchor="ctr">
                    <a:solidFill>
                      <a:srgbClr val="FAFC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에코델타 대방 엘리움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부산 강서구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470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30" b="0">
                          <a:solidFill>
                            <a:srgbClr val="1A2230"/>
                          </a:solidFill>
                          <a:latin typeface="맑은 고딕"/>
                        </a:rPr>
                        <a:t>진행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577840"/>
            <a:ext cx="3547872" cy="8686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05855"/>
            <a:ext cx="3547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44768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ADCFC"/>
                </a:solidFill>
                <a:latin typeface="맑은 고딕"/>
              </a:rPr>
              <a:t>'25~'26 누적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5577840"/>
            <a:ext cx="3547872" cy="8686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5705855"/>
            <a:ext cx="3547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19,294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6144768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ADCFC"/>
                </a:solidFill>
                <a:latin typeface="맑은 고딕"/>
              </a:rPr>
              <a:t>누적 세대수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5577840"/>
            <a:ext cx="3547872" cy="8686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5705855"/>
            <a:ext cx="3547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6144768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ADCFC"/>
                </a:solidFill>
                <a:latin typeface="맑은 고딕"/>
              </a:rPr>
              <a:t>사송·에코델타 수임률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06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협력 · 공동구매 추진 단지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Partner Brands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456"/>
                </a:solidFill>
                <a:latin typeface="맑은 고딕"/>
              </a:rPr>
              <a:t>공동구매·제품 공급으로 함께한 입주 단지 브랜드입니다.   </a:t>
            </a:r>
            <a:r>
              <a:rPr sz="1000" b="1">
                <a:solidFill>
                  <a:srgbClr val="AEB7C6"/>
                </a:solidFill>
                <a:latin typeface="맑은 고딕"/>
              </a:rPr>
              <a:t>※ 각 칸에 실제 브랜드 로고 삽입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자이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14884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331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SK뷰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7157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14884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두산위브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7157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14884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331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e편한세상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7157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331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푸르지오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7157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64408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472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더샵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313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3264408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34472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디에트르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8313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3264408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4472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롯데캐슬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8313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3264408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34472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중흥S클래스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8313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3264408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34472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데시앙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8313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379976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5628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우미린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94690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4379976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360" y="45628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풍경채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494690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4379976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45628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유보라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494690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60920" y="4379976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45628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노르웨이숲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494690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0" y="4379976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45628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LH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94690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EB7C6"/>
                </a:solidFill>
                <a:latin typeface="맑은 고딕"/>
              </a:rPr>
              <a:t>로고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541264"/>
            <a:ext cx="10972800" cy="841248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41264"/>
            <a:ext cx="109728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맑은 고딕"/>
              </a:rPr>
              <a:t>협력 및 공동구매 추진 연혁 다수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07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ACRO 제품 ① 실링팬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Ceiling Fan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1" y="1847088"/>
            <a:ext cx="2743200" cy="1929384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155789"/>
            <a:ext cx="2743200" cy="1350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7F8BA0"/>
                </a:solidFill>
                <a:latin typeface="맑은 고딕"/>
              </a:rPr>
              <a:t>🌀</a:t>
            </a:r>
          </a:p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프리미엄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2A0B5"/>
                </a:solidFill>
                <a:latin typeface="맑은 고딕"/>
              </a:rPr>
              <a:t>회장 실제 사진</a:t>
            </a:r>
          </a:p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F6FEB"/>
                </a:solidFill>
                <a:latin typeface="맑은 고딕"/>
              </a:rPr>
              <a:t>▣ AI 생성 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911095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230"/>
                </a:solidFill>
                <a:latin typeface="맑은 고딕"/>
              </a:rPr>
              <a:t>아크로 프리미엄 실링팬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35000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88A2E"/>
                </a:solidFill>
                <a:latin typeface="맑은 고딕"/>
              </a:rPr>
              <a:t>★ 프리미엄 · 블루투스 · 초슬림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7706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날개 지름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770632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132cm (52인치)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05409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모터/풍속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054096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BLDC DC모터 · 6단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337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33756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블루투스 앱+리모컨 · 1~6시간 타이머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6210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A/S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621024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5년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10972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" y="4315968"/>
            <a:ext cx="2743200" cy="1929384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4624669"/>
            <a:ext cx="2743200" cy="1350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7F8BA0"/>
                </a:solidFill>
                <a:latin typeface="맑은 고딕"/>
              </a:rPr>
              <a:t>🌀</a:t>
            </a:r>
          </a:p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슬림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2A0B5"/>
                </a:solidFill>
                <a:latin typeface="맑은 고딕"/>
              </a:rPr>
              <a:t>회장 실제 사진</a:t>
            </a:r>
          </a:p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F6FEB"/>
                </a:solidFill>
                <a:latin typeface="맑은 고딕"/>
              </a:rPr>
              <a:t>▣ AI 생성 금지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379976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230"/>
                </a:solidFill>
                <a:latin typeface="맑은 고딕"/>
              </a:rPr>
              <a:t>아크로 슬림 실링팬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81888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6FEB"/>
                </a:solidFill>
                <a:latin typeface="맑은 고딕"/>
              </a:rPr>
              <a:t>저천장 특화 · 우드 4색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2395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몸통 높이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239512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14.5cm급 초슬림 (저천장 밀착)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5522975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모터/풍속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5522975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BLDC DC모터 · 6단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580643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색상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5806439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우드톤 4색 / 조명 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6089903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678"/>
                </a:solidFill>
                <a:latin typeface="맑은 고딕"/>
              </a:rPr>
              <a:t>A/S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6089903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2230"/>
                </a:solidFill>
                <a:latin typeface="맑은 고딕"/>
              </a:rPr>
              <a:t>5년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08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ACRO 조명 · 디밍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Dimming 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4983480" cy="4160520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48763"/>
            <a:ext cx="4983480" cy="2912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7F8BA0"/>
                </a:solidFill>
                <a:latin typeface="맑은 고딕"/>
              </a:rPr>
              <a:t>🔆</a:t>
            </a:r>
          </a:p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조명 디밍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2A0B5"/>
                </a:solidFill>
                <a:latin typeface="맑은 고딕"/>
              </a:rPr>
              <a:t>디밍 조명 점등 공간컷</a:t>
            </a:r>
          </a:p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F6FEB"/>
                </a:solidFill>
                <a:latin typeface="맑은 고딕"/>
              </a:rPr>
              <a:t>▣ 실제 사진 우선 (없으면 ChatGPT 공간컷)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83080"/>
            <a:ext cx="566928" cy="566928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F6FEB"/>
                </a:solidFill>
                <a:latin typeface="맑은 고딕"/>
              </a:rPr>
              <a:t>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6FEB"/>
                </a:solidFill>
                <a:latin typeface="맑은 고딕"/>
              </a:rPr>
              <a:t>무단계 디밍 · 고연색 조명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0604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A4456"/>
                </a:solidFill>
                <a:latin typeface="맑은 고딕"/>
              </a:rPr>
              <a:t>COB 고연색 LED 조명에 앱·스위치 디밍을 더해, 공간 분위기에 맞춰 밝기와 색온도를 무단계로 조절합니다.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5661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주요 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1148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COB 고연색 LED · 높은 연색성(Ra)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5720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526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앱·스위치로 밝기/색온도 무단계 디밍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50292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983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우물천장 간접조명 등 공간 연출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54864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5440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플리커 프리 · 저눈부심 설계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6035040"/>
            <a:ext cx="5577840" cy="384048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6144768"/>
            <a:ext cx="5248655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F4D63"/>
                </a:solidFill>
                <a:latin typeface="맑은 고딕"/>
              </a:rPr>
              <a:t>정확 모델·치수·전기 사양은 회장 확정 후 기재 (가격 미표기).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09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ACRO 스위치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Smart Switch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4983480" cy="4160520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48763"/>
            <a:ext cx="4983480" cy="2912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7F8BA0"/>
                </a:solidFill>
                <a:latin typeface="맑은 고딕"/>
              </a:rPr>
              <a:t>🎛️</a:t>
            </a:r>
          </a:p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스위치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2A0B5"/>
                </a:solidFill>
                <a:latin typeface="맑은 고딕"/>
              </a:rPr>
              <a:t>월 스위치 패널 클로즈업</a:t>
            </a:r>
          </a:p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F6FEB"/>
                </a:solidFill>
                <a:latin typeface="맑은 고딕"/>
              </a:rPr>
              <a:t>▣ 실제 사진 우선 (없으면 ChatGPT 공간컷)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83080"/>
            <a:ext cx="566928" cy="566928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F6FEB"/>
                </a:solidFill>
                <a:latin typeface="맑은 고딕"/>
              </a:rPr>
              <a:t>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6FEB"/>
                </a:solidFill>
                <a:latin typeface="맑은 고딕"/>
              </a:rPr>
              <a:t>집 안을 하나로 묶는 허브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0604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A4456"/>
                </a:solidFill>
                <a:latin typeface="맑은 고딕"/>
              </a:rPr>
              <a:t>실링팬·조명·디밍을 한 패널과 앱으로 통합 제어하는 스마트 스위치. 아크로로 통일되는 스마트홈의 허브입니다.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5661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주요 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1148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실링팬·조명·디밍 통합 제어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5720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526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터치 + 물리 버튼 · 모던 패널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50292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983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ACRO 앱 연동 · 원격 제어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54864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5440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기존 매입형 교체 호환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6035040"/>
            <a:ext cx="5577840" cy="384048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6144768"/>
            <a:ext cx="5248655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F4D63"/>
                </a:solidFill>
                <a:latin typeface="맑은 고딕"/>
              </a:rPr>
              <a:t>정확 모델·치수·전기 사양은 회장 확정 후 기재 (가격 미표기).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10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ACRO 전동커튼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Motorized Curtain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4983480" cy="4160520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48763"/>
            <a:ext cx="4983480" cy="2912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7F8BA0"/>
                </a:solidFill>
                <a:latin typeface="맑은 고딕"/>
              </a:rPr>
              <a:t>🪟</a:t>
            </a:r>
          </a:p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전동커튼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2A0B5"/>
                </a:solidFill>
                <a:latin typeface="맑은 고딕"/>
              </a:rPr>
              <a:t>전동커튼 개폐 공간컷</a:t>
            </a:r>
          </a:p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F6FEB"/>
                </a:solidFill>
                <a:latin typeface="맑은 고딕"/>
              </a:rPr>
              <a:t>▣ 실제 사진 우선 (없으면 ChatGPT 공간컷)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83080"/>
            <a:ext cx="566928" cy="566928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F6FEB"/>
                </a:solidFill>
                <a:latin typeface="맑은 고딕"/>
              </a:rPr>
              <a:t>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6FEB"/>
                </a:solidFill>
                <a:latin typeface="맑은 고딕"/>
              </a:rPr>
              <a:t>앱·음성으로 여닫는 커튼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0604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A4456"/>
                </a:solidFill>
                <a:latin typeface="맑은 고딕"/>
              </a:rPr>
              <a:t>정숙한 모터로 부드럽게 여닫히는 전동커튼. 조명·실링팬과 함께 앱 하나로 제어되는 스마트홈을 완성합니다.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5661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주요 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1148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정숙 BLDC 모터 · 부드러운 개폐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5720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526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앱·음성·리모컨 제어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50292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983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개폐 시간 예약 · 자동화 시나리오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54864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5440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창 사이즈 맞춤 레일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6035040"/>
            <a:ext cx="5577840" cy="384048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6144768"/>
            <a:ext cx="5248655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F4D63"/>
                </a:solidFill>
                <a:latin typeface="맑은 고딕"/>
              </a:rPr>
              <a:t>정확 모델·치수·전기 사양은 회장 확정 후 기재 (가격 미표기).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11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ACRO 욕실 전열교환기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Bathroom ERV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4983480" cy="4160520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48763"/>
            <a:ext cx="4983480" cy="2912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7F8BA0"/>
                </a:solidFill>
                <a:latin typeface="맑은 고딕"/>
              </a:rPr>
              <a:t>💨</a:t>
            </a:r>
          </a:p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전열교환기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2A0B5"/>
                </a:solidFill>
                <a:latin typeface="맑은 고딕"/>
              </a:rPr>
              <a:t>욕실 천장 환기 유닛</a:t>
            </a:r>
          </a:p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F6FEB"/>
                </a:solidFill>
                <a:latin typeface="맑은 고딕"/>
              </a:rPr>
              <a:t>▣ 실제 사진 우선 (없으면 ChatGPT 공간컷)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83080"/>
            <a:ext cx="566928" cy="566928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F6FEB"/>
                </a:solidFill>
                <a:latin typeface="맑은 고딕"/>
              </a:rPr>
              <a:t>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6FEB"/>
                </a:solidFill>
                <a:latin typeface="맑은 고딕"/>
              </a:rPr>
              <a:t>환기·제습·열회수 ERV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0604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A4456"/>
                </a:solidFill>
                <a:latin typeface="맑은 고딕"/>
              </a:rPr>
              <a:t>욕실의 환기·제습·열회수(ERV)를 한 번에. 결로와 곰팡이를 줄이고, 빼앗기는 열을 회수해 쾌적·효율을 높입니다.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5661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주요 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1148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환기 + 제습 + 열회수(ERV)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5720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526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결로·곰팡이·습기 저감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50292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983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저소음 운전 · 욕실 천장 매립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54864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5440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ACRO 앱 연동 자동 환기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6035040"/>
            <a:ext cx="5577840" cy="384048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6144768"/>
            <a:ext cx="5248655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F4D63"/>
                </a:solidFill>
                <a:latin typeface="맑은 고딕"/>
              </a:rPr>
              <a:t>정확 모델·치수·전기 사양은 회장 확정 후 기재 (가격 미표기).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12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ACRO SMPS 전원공급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SMPS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4983480" cy="4160520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48763"/>
            <a:ext cx="4983480" cy="29123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>
                <a:solidFill>
                  <a:srgbClr val="7F8BA0"/>
                </a:solidFill>
                <a:latin typeface="맑은 고딕"/>
              </a:rPr>
              <a:t>🔌</a:t>
            </a:r>
          </a:p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SMPS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92A0B5"/>
                </a:solidFill>
                <a:latin typeface="맑은 고딕"/>
              </a:rPr>
              <a:t>SMPS 전원 모듈 제품컷</a:t>
            </a:r>
          </a:p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F6FEB"/>
                </a:solidFill>
                <a:latin typeface="맑은 고딕"/>
              </a:rPr>
              <a:t>▣ 실제 사진 우선 (없으면 ChatGPT 공간컷)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83080"/>
            <a:ext cx="566928" cy="566928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F6FEB"/>
                </a:solidFill>
                <a:latin typeface="맑은 고딕"/>
              </a:rPr>
              <a:t>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6FEB"/>
                </a:solidFill>
                <a:latin typeface="맑은 고딕"/>
              </a:rPr>
              <a:t>안정적인 전원의 심장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0604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A4456"/>
                </a:solidFill>
                <a:latin typeface="맑은 고딕"/>
              </a:rPr>
              <a:t>스마트홈·조명 기기를 구동하는 전원공급장치(SMPS). 안정된 정전압·정전류와 보호회로로 기기 수명을 지킵니다.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5661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맑은 고딕"/>
              </a:rPr>
              <a:t>주요 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1148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스마트홈·조명 구동 전원공급장치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5720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5262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정전압·정전류 안정 출력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50292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983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과부하·과열·단락 보호 회로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5486400"/>
            <a:ext cx="118872" cy="11887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5440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04F"/>
                </a:solidFill>
                <a:latin typeface="맑은 고딕"/>
              </a:rPr>
              <a:t>고효율 · 장수명 설계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6035040"/>
            <a:ext cx="5577840" cy="384048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6144768"/>
            <a:ext cx="5248655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F4D63"/>
                </a:solidFill>
                <a:latin typeface="맑은 고딕"/>
              </a:rPr>
              <a:t>정확 모델·치수·전기 사양은 회장 확정 후 기재 (가격 미표기).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13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유상옵션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Paid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456"/>
                </a:solidFill>
                <a:latin typeface="맑은 고딕"/>
              </a:rPr>
              <a:t>입주 단지 공동구매·유상옵션으로 함께 제공합니다.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386584"/>
            <a:ext cx="640080" cy="64008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3865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1F6FEB"/>
                </a:solidFill>
                <a:latin typeface="맑은 고딕"/>
              </a:rPr>
              <a:t>❄️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5" y="2478024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230"/>
                </a:solidFill>
                <a:latin typeface="맑은 고딕"/>
              </a:rPr>
              <a:t>에어컨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5" y="2990088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B6678"/>
                </a:solidFill>
                <a:latin typeface="맑은 고딕"/>
              </a:rPr>
              <a:t>시스템·벽걸이 에어컨 설치·공동구매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488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26864" y="2386584"/>
            <a:ext cx="640080" cy="64008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3865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1F6FEB"/>
                </a:solidFill>
                <a:latin typeface="맑은 고딕"/>
              </a:rPr>
              <a:t>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2478024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230"/>
                </a:solidFill>
                <a:latin typeface="맑은 고딕"/>
              </a:rPr>
              <a:t>중문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2990088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B6678"/>
                </a:solidFill>
                <a:latin typeface="맑은 고딕"/>
              </a:rPr>
              <a:t>현관 중문 — 단열·소음·먼지 차단, 디자인 선택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21488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75903" y="2386584"/>
            <a:ext cx="640080" cy="64008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3" y="23865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1F6FEB"/>
                </a:solidFill>
                <a:latin typeface="맑은 고딕"/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478024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230"/>
                </a:solidFill>
                <a:latin typeface="맑은 고딕"/>
              </a:rPr>
              <a:t>친환경 도료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990088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B6678"/>
                </a:solidFill>
                <a:latin typeface="맑은 고딕"/>
              </a:rPr>
              <a:t>무독성 친환경 도장 — 새집증후군 저감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70248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7824" y="4507992"/>
            <a:ext cx="640080" cy="64008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50799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1F6FEB"/>
                </a:solidFill>
                <a:latin typeface="맑은 고딕"/>
              </a:rPr>
              <a:t>🌬️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82495" y="4599432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230"/>
                </a:solidFill>
                <a:latin typeface="맑은 고딕"/>
              </a:rPr>
              <a:t>환기 시스템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2495" y="511149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B6678"/>
                </a:solidFill>
                <a:latin typeface="맑은 고딕"/>
              </a:rPr>
              <a:t>전열교환 환기로 실내 공기질 상시 관리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270248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4507992"/>
            <a:ext cx="640080" cy="64008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450799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1F6FEB"/>
                </a:solidFill>
                <a:latin typeface="맑은 고딕"/>
              </a:rPr>
              <a:t>♻️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4599432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230"/>
                </a:solidFill>
                <a:latin typeface="맑은 고딕"/>
              </a:rPr>
              <a:t>음식물 처리기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1536" y="511149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B6678"/>
                </a:solidFill>
                <a:latin typeface="맑은 고딕"/>
              </a:rPr>
              <a:t>싱크대 음식물 분쇄·건조 처리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59" y="4270248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75903" y="4507992"/>
            <a:ext cx="640080" cy="64008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75903" y="450799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1F6FEB"/>
                </a:solidFill>
                <a:latin typeface="맑은 고딕"/>
              </a:rPr>
              <a:t>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4599432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230"/>
                </a:solidFill>
                <a:latin typeface="맑은 고딕"/>
              </a:rPr>
              <a:t>기타 옵션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5111496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5B6678"/>
                </a:solidFill>
                <a:latin typeface="맑은 고딕"/>
              </a:rPr>
              <a:t>입주 단지 맞춤 유상옵션 상시 추가 구성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6309360"/>
            <a:ext cx="10972800" cy="36576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" y="6419088"/>
            <a:ext cx="1064361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F4D63"/>
                </a:solidFill>
                <a:latin typeface="맑은 고딕"/>
              </a:rPr>
              <a:t>정확 품목·시공범위·가격은 단지/회장 확정 후 구성 (가격 미표기).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14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ACRO 스마트홈 — 국내 최초 통합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Smart-Home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72800" cy="114300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ADCFC"/>
                </a:solidFill>
                <a:latin typeface="맑은 고딕"/>
              </a:rPr>
              <a:t>KOREA FIRST · 자체 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실링팬 · 전동커튼 · 스위치 · 조명 디밍을 하나의 앱으로 통합 제어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CADCFC"/>
                </a:solidFill>
                <a:latin typeface="맑은 고딕"/>
              </a:rPr>
              <a:t>— 국내 최초 자체 개발 스마트홈 시스템 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108960"/>
            <a:ext cx="2377440" cy="2286000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3657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7F8BA0"/>
                </a:solidFill>
                <a:latin typeface="맑은 고딕"/>
              </a:rPr>
              <a:t>📱</a:t>
            </a:r>
          </a:p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홈 대시보드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2A0B5"/>
                </a:solidFill>
                <a:latin typeface="맑은 고딕"/>
              </a:rPr>
              <a:t>기기 한눈에 제어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3108960"/>
            <a:ext cx="2377440" cy="2286000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657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7F8BA0"/>
                </a:solidFill>
                <a:latin typeface="맑은 고딕"/>
              </a:rPr>
              <a:t>🌀</a:t>
            </a:r>
          </a:p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팬 + 조명 디밍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2A0B5"/>
                </a:solidFill>
                <a:latin typeface="맑은 고딕"/>
              </a:rPr>
              <a:t>풍속·밝기·색온도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108960"/>
            <a:ext cx="2377440" cy="2286000"/>
          </a:xfrm>
          <a:prstGeom prst="roundRect">
            <a:avLst/>
          </a:prstGeom>
          <a:solidFill>
            <a:srgbClr val="F3F6FC"/>
          </a:solidFill>
          <a:ln w="19050">
            <a:solidFill>
              <a:srgbClr val="B9C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657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7F8BA0"/>
                </a:solidFill>
                <a:latin typeface="맑은 고딕"/>
              </a:rPr>
              <a:t>🪟</a:t>
            </a:r>
          </a:p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48566B"/>
                </a:solidFill>
                <a:latin typeface="맑은 고딕"/>
              </a:rPr>
              <a:t>커튼·환기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92A0B5"/>
                </a:solidFill>
                <a:latin typeface="맑은 고딕"/>
              </a:rPr>
              <a:t>전동커튼·전열교환기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45720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5687568"/>
            <a:ext cx="106436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3F4D63"/>
                </a:solidFill>
                <a:latin typeface="맑은 고딕"/>
              </a:rPr>
              <a:t>📸 위 3컷은 회장 실제 앱 화면 자리 (주관사PT/img/app1~3.png · Desktop\아크로 사진 · ACRO_App_Prototype_KR.html 캡처).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15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왜 엣지컴퍼니인가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Why Edge Company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🌀 자체 제품 제조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50008"/>
            <a:ext cx="3118104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8"/>
                </a:solidFill>
                <a:latin typeface="맑은 고딕"/>
              </a:rPr>
              <a:t>실링팬·조명·스위치·커튼·환기를 자체 브랜드로 제조·공급. 마진·하자 일원화.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65960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📱 국내 최초 스마트홈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50008"/>
            <a:ext cx="3118104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8"/>
                </a:solidFill>
                <a:latin typeface="맑은 고딕"/>
              </a:rPr>
              <a:t>팬·커튼·스위치·디밍 통합 앱 자체 개발. 경쟁사가 못 따라오는 기술.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965960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💡 실내·경관 조명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350008"/>
            <a:ext cx="3118104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8"/>
                </a:solidFill>
                <a:latin typeface="맑은 고딕"/>
              </a:rPr>
              <a:t>주거·상업 실내조명 + 야간 경관조명 설계·시공·납품 일괄.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611880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📦 공동구매 공급망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995928"/>
            <a:ext cx="3118104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8"/>
                </a:solidFill>
                <a:latin typeface="맑은 고딕"/>
              </a:rPr>
              <a:t>'25~'26 22단지·19,294세대 공급. 사송·에코델타 90% 수임.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42900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611880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📈 견실한 재무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995928"/>
            <a:ext cx="3118104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8"/>
                </a:solidFill>
                <a:latin typeface="맑은 고딕"/>
              </a:rPr>
              <a:t>매출 52억 · NICE D&amp;B 신용 BB · 현금흐름 A · 자본금 2억.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42900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611880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230"/>
                </a:solidFill>
                <a:latin typeface="맑은 고딕"/>
              </a:rPr>
              <a:t>🌐 전국 22개 지사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95928"/>
            <a:ext cx="3118104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8"/>
                </a:solidFill>
                <a:latin typeface="맑은 고딕"/>
              </a:rPr>
              <a:t>본사 울산 + 전국 22개 지사망으로 현장 대응·납기 안정.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57800"/>
            <a:ext cx="10972800" cy="1234440"/>
          </a:xfrm>
          <a:prstGeom prst="round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2347A"/>
                </a:solidFill>
                <a:latin typeface="맑은 고딕"/>
              </a:rPr>
              <a:t>건설사·시행사 협력 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5216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404F"/>
                </a:solidFill>
                <a:latin typeface="맑은 고딕"/>
              </a:rPr>
              <a:t>✓ 단지 ACRO 스마트홈 빌트인/옵션 패키지   ✓ 실내·경관 조명 설계·시공·납품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404F"/>
                </a:solidFill>
                <a:latin typeface="맑은 고딕"/>
              </a:rPr>
              <a:t>✓ 공동구매 제품 공급   ✓ 준공 후 장기 A/S 협약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6FEB"/>
                </a:solidFill>
                <a:latin typeface="맑은 고딕"/>
              </a:rPr>
              <a:t>16  </a:t>
            </a:r>
            <a:r>
              <a:rPr sz="2600" b="1">
                <a:solidFill>
                  <a:srgbClr val="1A2230"/>
                </a:solidFill>
                <a:latin typeface="맑은 고딕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7C6"/>
                </a:solidFill>
                <a:latin typeface="맑은 고딕"/>
              </a:rPr>
              <a:t>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11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4015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678"/>
                </a:solidFill>
                <a:latin typeface="맑은 고딕"/>
              </a:rPr>
              <a:t>㈜엣지컴퍼니  |  지명원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743200" cy="475488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대표이사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818387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828800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고진식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04288"/>
            <a:ext cx="2743200" cy="475488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대표번호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304288"/>
            <a:ext cx="818387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304288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1533-3210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2743200" cy="475488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79776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대표이사 직통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779776"/>
            <a:ext cx="818387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2779776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010-3345-6107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55264"/>
            <a:ext cx="2743200" cy="475488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255264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본사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55264"/>
            <a:ext cx="818387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255264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2230"/>
                </a:solidFill>
                <a:latin typeface="맑은 고딕"/>
              </a:rPr>
              <a:t>울산광역시 울주군 청량읍 상남1길 28, 2동 (전국 22개 지사)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30752"/>
            <a:ext cx="2743200" cy="475488"/>
          </a:xfrm>
          <a:prstGeom prst="rect">
            <a:avLst/>
          </a:prstGeom>
          <a:solidFill>
            <a:srgbClr val="EEF3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30752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347A"/>
                </a:solidFill>
                <a:latin typeface="맑은 고딕"/>
              </a:rPr>
              <a:t>이메일/홈페이지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730752"/>
            <a:ext cx="8183879" cy="475488"/>
          </a:xfrm>
          <a:prstGeom prst="rect">
            <a:avLst/>
          </a:prstGeom>
          <a:solidFill>
            <a:srgbClr val="FFF7DA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3730752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5D00"/>
                </a:solidFill>
                <a:latin typeface="맑은 고딕"/>
              </a:rPr>
              <a:t>[ 회장 확정 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63440"/>
            <a:ext cx="10972800" cy="1554480"/>
          </a:xfrm>
          <a:prstGeom prst="roundRect">
            <a:avLst/>
          </a:prstGeom>
          <a:solidFill>
            <a:srgbClr val="12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ADCFC"/>
                </a:solidFill>
                <a:latin typeface="맑은 고딕"/>
              </a:rPr>
              <a:t>EDGE COMPANY CO.,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㈜엣지컴퍼니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CADCFC"/>
                </a:solidFill>
                <a:latin typeface="맑은 고딕"/>
              </a:rPr>
              <a:t>ACRO 스마트홈 제품 제조·공급 · 스마트홈 시스템 개발 · 실내/경관 조명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