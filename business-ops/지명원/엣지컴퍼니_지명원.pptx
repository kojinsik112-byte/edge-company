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23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86868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F6FEB"/>
                </a:solidFill>
                <a:latin typeface="맑은 고딕"/>
              </a:rPr>
              <a:t>EDGE COMPANY CO., LTD.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132588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5B6678"/>
                </a:solidFill>
                <a:latin typeface="맑은 고딕"/>
              </a:rPr>
              <a:t>ACRO 스마트홈 제품 제조·공급  ·  스마트홈 시스템 개발  ·  실내/경관 조명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2860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5B6678"/>
                </a:solidFill>
                <a:latin typeface="맑은 고딕"/>
              </a:rPr>
              <a:t>指 名 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697480"/>
            <a:ext cx="100584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200" b="1">
                <a:solidFill>
                  <a:srgbClr val="1A2230"/>
                </a:solidFill>
                <a:latin typeface="맑은 고딕"/>
              </a:rPr>
              <a:t>지  명  원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4114800"/>
            <a:ext cx="914400" cy="6400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38912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1A2230"/>
                </a:solidFill>
                <a:latin typeface="맑은 고딕"/>
              </a:rPr>
              <a:t>㈜엣지컴퍼니</a:t>
            </a:r>
          </a:p>
          <a:p>
            <a:pPr algn="l">
              <a:lnSpc>
                <a:spcPct val="125000"/>
              </a:lnSpc>
            </a:pPr>
            <a:r>
              <a:rPr sz="1300" b="1">
                <a:solidFill>
                  <a:srgbClr val="5B6678"/>
                </a:solidFill>
                <a:latin typeface="맑은 고딕"/>
              </a:rPr>
              <a:t>ACRO 스마트홈 제품 제조·공급 · 스마트홈 시스템 자체 개발 · 실내/경관 조명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5806440"/>
            <a:ext cx="10332720" cy="18288"/>
          </a:xfrm>
          <a:prstGeom prst="rect">
            <a:avLst/>
          </a:prstGeom>
          <a:solidFill>
            <a:srgbClr val="E3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943600"/>
            <a:ext cx="7315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5B6678"/>
                </a:solidFill>
                <a:latin typeface="맑은 고딕"/>
              </a:rPr>
              <a:t>울산광역시 울주군 청량읍 상남1길 28, 2동  ·  전국 22개 지사</a:t>
            </a: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5B6678"/>
                </a:solidFill>
                <a:latin typeface="맑은 고딕"/>
              </a:rPr>
              <a:t>대표이사 고진식   |   대표번호 1533-3210 · 010-3345-6107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594360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1">
                <a:solidFill>
                  <a:srgbClr val="1A2230"/>
                </a:solidFill>
                <a:latin typeface="맑은 고딕"/>
              </a:rPr>
              <a:t>제출처  각종 건설사·시행사 귀중</a:t>
            </a:r>
          </a:p>
          <a:p>
            <a:pPr algn="r">
              <a:lnSpc>
                <a:spcPct val="130000"/>
              </a:lnSpc>
            </a:pPr>
            <a:r>
              <a:rPr sz="1050" b="0">
                <a:solidFill>
                  <a:srgbClr val="5B6678"/>
                </a:solidFill>
                <a:latin typeface="맑은 고딕"/>
              </a:rPr>
              <a:t>2026. __. __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23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F6FEB"/>
                </a:solidFill>
                <a:latin typeface="맑은 고딕"/>
              </a:rPr>
              <a:t>01  </a:t>
            </a:r>
            <a:r>
              <a:rPr sz="2600" b="1">
                <a:solidFill>
                  <a:srgbClr val="1A2230"/>
                </a:solidFill>
                <a:latin typeface="맑은 고딕"/>
              </a:rPr>
              <a:t>회사 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2412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AEB7C6"/>
                </a:solidFill>
                <a:latin typeface="맑은 고딕"/>
              </a:rPr>
              <a:t>Company 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566928" cy="411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94015" y="54864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5B6678"/>
                </a:solidFill>
                <a:latin typeface="맑은 고딕"/>
              </a:rPr>
              <a:t>㈜엣지컴퍼니  |  지명원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109728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>
                <a:solidFill>
                  <a:srgbClr val="3A4456"/>
                </a:solidFill>
                <a:latin typeface="맑은 고딕"/>
              </a:rPr>
              <a:t>㈜엣지컴퍼니는 자체 스마트홈 브랜드 </a:t>
            </a:r>
            <a:r>
              <a:rPr sz="1250" b="1">
                <a:solidFill>
                  <a:srgbClr val="1A2230"/>
                </a:solidFill>
                <a:latin typeface="맑은 고딕"/>
              </a:rPr>
              <a:t>ACRO(아크로)</a:t>
            </a:r>
            <a:r>
              <a:rPr sz="1250" b="0">
                <a:solidFill>
                  <a:srgbClr val="3A4456"/>
                </a:solidFill>
                <a:latin typeface="맑은 고딕"/>
              </a:rPr>
              <a:t>를 직접 제조·공급하고,</a:t>
            </a:r>
          </a:p>
          <a:p>
            <a:pPr algn="l">
              <a:lnSpc>
                <a:spcPct val="140000"/>
              </a:lnSpc>
            </a:pPr>
            <a:r>
              <a:rPr sz="1250" b="0">
                <a:solidFill>
                  <a:srgbClr val="3A4456"/>
                </a:solidFill>
                <a:latin typeface="맑은 고딕"/>
              </a:rPr>
              <a:t>실링팬·전동커튼·스위치·조명 디밍을 </a:t>
            </a:r>
            <a:r>
              <a:rPr sz="1250" b="1">
                <a:solidFill>
                  <a:srgbClr val="1A2230"/>
                </a:solidFill>
                <a:latin typeface="맑은 고딕"/>
              </a:rPr>
              <a:t>하나의 앱으로 통합 제어하는 스마트홈 시스템을 국내 최초로 자체 개발</a:t>
            </a:r>
            <a:r>
              <a:rPr sz="1250" b="0">
                <a:solidFill>
                  <a:srgbClr val="3A4456"/>
                </a:solidFill>
                <a:latin typeface="맑은 고딕"/>
              </a:rPr>
              <a:t>한 회사입니다.</a:t>
            </a:r>
          </a:p>
          <a:p>
            <a:pPr algn="l">
              <a:lnSpc>
                <a:spcPct val="140000"/>
              </a:lnSpc>
            </a:pPr>
            <a:r>
              <a:rPr sz="1250" b="0">
                <a:solidFill>
                  <a:srgbClr val="3A4456"/>
                </a:solidFill>
                <a:latin typeface="맑은 고딕"/>
              </a:rPr>
              <a:t>실내조명·실외 경관조명의 설계·시공·납품까지 일괄 수행하며, 공동구매를 통해 다수 입주 단지에 제품을 공급해 왔습니다.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83280"/>
            <a:ext cx="260604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529584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1F6FEB"/>
                </a:solidFill>
                <a:latin typeface="맑은 고딕"/>
              </a:rPr>
              <a:t>19,294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023360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5B6678"/>
                </a:solidFill>
                <a:latin typeface="맑은 고딕"/>
              </a:rPr>
              <a:t>공동구매 공급 세대수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29000" y="3383280"/>
            <a:ext cx="260604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29000" y="3529584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1F6FEB"/>
                </a:solidFill>
                <a:latin typeface="맑은 고딕"/>
              </a:rPr>
              <a:t>52억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9000" y="4023360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5B6678"/>
                </a:solidFill>
                <a:latin typeface="맑은 고딕"/>
              </a:rPr>
              <a:t>매출액 (최근)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3383280"/>
            <a:ext cx="260604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3529584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1F6FEB"/>
                </a:solidFill>
                <a:latin typeface="맑은 고딕"/>
              </a:rPr>
              <a:t>BB / 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4023360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5B6678"/>
                </a:solidFill>
                <a:latin typeface="맑은 고딕"/>
              </a:rPr>
              <a:t>신용 / 현금흐름 (NICE D&amp;B)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06840" y="3383280"/>
            <a:ext cx="260604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06840" y="3529584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1F6FEB"/>
                </a:solidFill>
                <a:latin typeface="맑은 고딕"/>
              </a:rPr>
              <a:t>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06840" y="4023360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5B6678"/>
                </a:solidFill>
                <a:latin typeface="맑은 고딕"/>
              </a:rPr>
              <a:t>전국 지사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70916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A2230"/>
                </a:solidFill>
                <a:latin typeface="맑은 고딕"/>
              </a:rPr>
              <a:t>3대 핵심 역량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5029200"/>
            <a:ext cx="201168" cy="29260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0080" y="5440680"/>
            <a:ext cx="356616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7" y="5623560"/>
            <a:ext cx="316382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A2230"/>
                </a:solidFill>
                <a:latin typeface="맑은 고딕"/>
              </a:rPr>
              <a:t>🌀 ACRO 제품 제조·공급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7" y="6007608"/>
            <a:ext cx="3163824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B6678"/>
                </a:solidFill>
                <a:latin typeface="맑은 고딕"/>
              </a:rPr>
              <a:t>실링팬·조명·스위치·전동커튼·욕실 전열교환기를 자체 브랜드로 제조·공급.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43400" y="5440680"/>
            <a:ext cx="356616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44568" y="5623560"/>
            <a:ext cx="316382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A2230"/>
                </a:solidFill>
                <a:latin typeface="맑은 고딕"/>
              </a:rPr>
              <a:t>📱 스마트홈 시스템 개발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44568" y="6007608"/>
            <a:ext cx="3163824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B6678"/>
                </a:solidFill>
                <a:latin typeface="맑은 고딕"/>
              </a:rPr>
              <a:t>팬·커튼·스위치·조명디밍 통합 앱 국내 최초 자체 개발.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46720" y="5440680"/>
            <a:ext cx="352044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47888" y="5623560"/>
            <a:ext cx="31181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A2230"/>
                </a:solidFill>
                <a:latin typeface="맑은 고딕"/>
              </a:rPr>
              <a:t>💡 실내·경관 조명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47888" y="6007608"/>
            <a:ext cx="3118104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B6678"/>
                </a:solidFill>
                <a:latin typeface="맑은 고딕"/>
              </a:rPr>
              <a:t>주거·상업 실내조명 + 건물 외관 경관조명 설계·시공·납품.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23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F6FEB"/>
                </a:solidFill>
                <a:latin typeface="맑은 고딕"/>
              </a:rPr>
              <a:t>02  </a:t>
            </a:r>
            <a:r>
              <a:rPr sz="2600" b="1">
                <a:solidFill>
                  <a:srgbClr val="1A2230"/>
                </a:solidFill>
                <a:latin typeface="맑은 고딕"/>
              </a:rPr>
              <a:t>일반 현황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2412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AEB7C6"/>
                </a:solidFill>
                <a:latin typeface="맑은 고딕"/>
              </a:rPr>
              <a:t>Company Profile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566928" cy="411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94015" y="54864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5B6678"/>
                </a:solidFill>
                <a:latin typeface="맑은 고딕"/>
              </a:rPr>
              <a:t>㈜엣지컴퍼니  |  지명원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2743200" cy="457200"/>
          </a:xfrm>
          <a:prstGeom prst="rect">
            <a:avLst/>
          </a:prstGeom>
          <a:solidFill>
            <a:srgbClr val="EEF3FB"/>
          </a:solidFill>
          <a:ln w="9525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2347A"/>
                </a:solidFill>
                <a:latin typeface="맑은 고딕"/>
              </a:rPr>
              <a:t>상호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3280" y="1783080"/>
            <a:ext cx="8183879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47872" y="1783080"/>
            <a:ext cx="795527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A2230"/>
                </a:solidFill>
                <a:latin typeface="맑은 고딕"/>
              </a:rPr>
              <a:t>㈜엣지컴퍼니 (Edge Company Co., Ltd.)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240280"/>
            <a:ext cx="2743200" cy="457200"/>
          </a:xfrm>
          <a:prstGeom prst="rect">
            <a:avLst/>
          </a:prstGeom>
          <a:solidFill>
            <a:srgbClr val="EEF3FB"/>
          </a:solidFill>
          <a:ln w="9525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24028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2347A"/>
                </a:solidFill>
                <a:latin typeface="맑은 고딕"/>
              </a:rPr>
              <a:t>대표이사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3280" y="2240280"/>
            <a:ext cx="8183879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47872" y="2240280"/>
            <a:ext cx="795527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A2230"/>
                </a:solidFill>
                <a:latin typeface="맑은 고딕"/>
              </a:rPr>
              <a:t>고진식  (주주: 고진식 70% · 박은지 30%)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2697480"/>
            <a:ext cx="2743200" cy="457200"/>
          </a:xfrm>
          <a:prstGeom prst="rect">
            <a:avLst/>
          </a:prstGeom>
          <a:solidFill>
            <a:srgbClr val="EEF3FB"/>
          </a:solidFill>
          <a:ln w="9525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269748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2347A"/>
                </a:solidFill>
                <a:latin typeface="맑은 고딕"/>
              </a:rPr>
              <a:t>설립일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83280" y="2697480"/>
            <a:ext cx="8183879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47872" y="2697480"/>
            <a:ext cx="795527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A2230"/>
                </a:solidFill>
                <a:latin typeface="맑은 고딕"/>
              </a:rPr>
              <a:t>2022년 2월 28일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154680"/>
            <a:ext cx="2743200" cy="457200"/>
          </a:xfrm>
          <a:prstGeom prst="rect">
            <a:avLst/>
          </a:prstGeom>
          <a:solidFill>
            <a:srgbClr val="EEF3FB"/>
          </a:solidFill>
          <a:ln w="9525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315468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2347A"/>
                </a:solidFill>
                <a:latin typeface="맑은 고딕"/>
              </a:rPr>
              <a:t>사업자등록번호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83280" y="3154680"/>
            <a:ext cx="8183879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547872" y="3154680"/>
            <a:ext cx="795527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A2230"/>
                </a:solidFill>
                <a:latin typeface="맑은 고딕"/>
              </a:rPr>
              <a:t>508-81-42798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3611880"/>
            <a:ext cx="2743200" cy="457200"/>
          </a:xfrm>
          <a:prstGeom prst="rect">
            <a:avLst/>
          </a:prstGeom>
          <a:solidFill>
            <a:srgbClr val="EEF3FB"/>
          </a:solidFill>
          <a:ln w="9525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361188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2347A"/>
                </a:solidFill>
                <a:latin typeface="맑은 고딕"/>
              </a:rPr>
              <a:t>법인등록번호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83280" y="3611880"/>
            <a:ext cx="8183879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47872" y="3611880"/>
            <a:ext cx="795527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A2230"/>
                </a:solidFill>
                <a:latin typeface="맑은 고딕"/>
              </a:rPr>
              <a:t>230111-0369271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4069080"/>
            <a:ext cx="2743200" cy="457200"/>
          </a:xfrm>
          <a:prstGeom prst="rect">
            <a:avLst/>
          </a:prstGeom>
          <a:solidFill>
            <a:srgbClr val="EEF3FB"/>
          </a:solidFill>
          <a:ln w="9525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406908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2347A"/>
                </a:solidFill>
                <a:latin typeface="맑은 고딕"/>
              </a:rPr>
              <a:t>본사 소재지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383280" y="4069080"/>
            <a:ext cx="8183879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547872" y="4069080"/>
            <a:ext cx="795527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A2230"/>
                </a:solidFill>
                <a:latin typeface="맑은 고딕"/>
              </a:rPr>
              <a:t>울산광역시 울주군 청량읍 상남1길 28, 2동  ·  전국 22개 지사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4526280"/>
            <a:ext cx="2743200" cy="457200"/>
          </a:xfrm>
          <a:prstGeom prst="rect">
            <a:avLst/>
          </a:prstGeom>
          <a:solidFill>
            <a:srgbClr val="EEF3FB"/>
          </a:solidFill>
          <a:ln w="9525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240" y="452628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2347A"/>
                </a:solidFill>
                <a:latin typeface="맑은 고딕"/>
              </a:rPr>
              <a:t>자본금 / 상시인원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383280" y="4526280"/>
            <a:ext cx="8183879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547872" y="4526280"/>
            <a:ext cx="795527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A2230"/>
                </a:solidFill>
                <a:latin typeface="맑은 고딕"/>
              </a:rPr>
              <a:t>2억 원 (1주 10,000원 × 20,000주) / 14명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4983480"/>
            <a:ext cx="2743200" cy="457200"/>
          </a:xfrm>
          <a:prstGeom prst="rect">
            <a:avLst/>
          </a:prstGeom>
          <a:solidFill>
            <a:srgbClr val="EEF3FB"/>
          </a:solidFill>
          <a:ln w="9525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" y="498348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2347A"/>
                </a:solidFill>
                <a:latin typeface="맑은 고딕"/>
              </a:rPr>
              <a:t>주요 사업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383280" y="4983480"/>
            <a:ext cx="8183879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547872" y="4983480"/>
            <a:ext cx="795527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A2230"/>
                </a:solidFill>
                <a:latin typeface="맑은 고딕"/>
              </a:rPr>
              <a:t>ACRO 스마트홈 제품 제조·공급 · 스마트홈 시스템 개발 · 실내/경관 조명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" y="5440680"/>
            <a:ext cx="2743200" cy="457200"/>
          </a:xfrm>
          <a:prstGeom prst="rect">
            <a:avLst/>
          </a:prstGeom>
          <a:solidFill>
            <a:srgbClr val="EEF3FB"/>
          </a:solidFill>
          <a:ln w="9525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77240" y="544068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2347A"/>
                </a:solidFill>
                <a:latin typeface="맑은 고딕"/>
              </a:rPr>
              <a:t>대표번호 / 대표이사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383280" y="5440680"/>
            <a:ext cx="8183879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547872" y="5440680"/>
            <a:ext cx="795527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A2230"/>
                </a:solidFill>
                <a:latin typeface="맑은 고딕"/>
              </a:rPr>
              <a:t>1533-3210  ·  010-3345-6107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40080" y="6007608"/>
            <a:ext cx="10927080" cy="548640"/>
          </a:xfrm>
          <a:prstGeom prst="roundRect">
            <a:avLst/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04671" y="6117336"/>
            <a:ext cx="1059789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30" b="0">
                <a:solidFill>
                  <a:srgbClr val="3F4D63"/>
                </a:solidFill>
                <a:latin typeface="맑은 고딕"/>
              </a:rPr>
              <a:t>대표이사 고진식 — 온산 대한유화 10년 근무 후 창업, 저서 『사람 덕분에 여기까지 왔습니다』. 제조부터 현장까지 직접 챙기는 실무형 경영.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23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F6FEB"/>
                </a:solidFill>
                <a:latin typeface="맑은 고딕"/>
              </a:rPr>
              <a:t>03  </a:t>
            </a:r>
            <a:r>
              <a:rPr sz="2600" b="1">
                <a:solidFill>
                  <a:srgbClr val="1A2230"/>
                </a:solidFill>
                <a:latin typeface="맑은 고딕"/>
              </a:rPr>
              <a:t>보유 면허 · 자격 · 인증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2412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AEB7C6"/>
                </a:solidFill>
                <a:latin typeface="맑은 고딕"/>
              </a:rPr>
              <a:t>Licenses &amp; Certifications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566928" cy="411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94015" y="54864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5B6678"/>
                </a:solidFill>
                <a:latin typeface="맑은 고딕"/>
              </a:rPr>
              <a:t>㈜엣지컴퍼니  |  지명원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A2230"/>
                </a:solidFill>
                <a:latin typeface="맑은 고딕"/>
              </a:rPr>
              <a:t>면허 · 등록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011680"/>
            <a:ext cx="182880" cy="274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423160"/>
            <a:ext cx="2926080" cy="457200"/>
          </a:xfrm>
          <a:prstGeom prst="rect">
            <a:avLst/>
          </a:prstGeom>
          <a:solidFill>
            <a:srgbClr val="EEF3FB"/>
          </a:solidFill>
          <a:ln w="9525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42316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2347A"/>
                </a:solidFill>
                <a:latin typeface="맑은 고딕"/>
              </a:rPr>
              <a:t>전기공사업 등록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66160" y="2423160"/>
            <a:ext cx="80010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30752" y="2423160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2230"/>
                </a:solidFill>
                <a:latin typeface="맑은 고딕"/>
              </a:rPr>
              <a:t>제 울산-00821호 (2022.05.04 · 울산광역시장) — 조명 설치 전기결선 근거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880360"/>
            <a:ext cx="2926080" cy="457200"/>
          </a:xfrm>
          <a:prstGeom prst="rect">
            <a:avLst/>
          </a:prstGeom>
          <a:solidFill>
            <a:srgbClr val="EEF3FB"/>
          </a:solidFill>
          <a:ln w="9525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88036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2347A"/>
                </a:solidFill>
                <a:latin typeface="맑은 고딕"/>
              </a:rPr>
              <a:t>한국전기공사협회 회원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66160" y="2880360"/>
            <a:ext cx="80010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30752" y="2880360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2230"/>
                </a:solidFill>
                <a:latin typeface="맑은 고딕"/>
              </a:rPr>
              <a:t>제00362호 (2022.05.09 · 정회원)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337560"/>
            <a:ext cx="2926080" cy="457200"/>
          </a:xfrm>
          <a:prstGeom prst="rect">
            <a:avLst/>
          </a:prstGeom>
          <a:solidFill>
            <a:srgbClr val="EEF3FB"/>
          </a:solidFill>
          <a:ln w="9525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33756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2347A"/>
                </a:solidFill>
                <a:latin typeface="맑은 고딕"/>
              </a:rPr>
              <a:t>건설업 / 소방시설업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566160" y="3337560"/>
            <a:ext cx="8001000" cy="457200"/>
          </a:xfrm>
          <a:prstGeom prst="rect">
            <a:avLst/>
          </a:prstGeom>
          <a:solidFill>
            <a:srgbClr val="FFF7DA"/>
          </a:solidFill>
          <a:ln w="9525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30752" y="3337560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7A5D00"/>
                </a:solidFill>
                <a:latin typeface="맑은 고딕"/>
              </a:rPr>
              <a:t>[ 실제 등록번호 회장 확정 — KISCON 대조됨 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95935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A2230"/>
                </a:solidFill>
                <a:latin typeface="맑은 고딕"/>
              </a:rPr>
              <a:t>경영시스템 인증 · 신용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4279392"/>
            <a:ext cx="182880" cy="274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663440"/>
            <a:ext cx="2926080" cy="420624"/>
          </a:xfrm>
          <a:prstGeom prst="rect">
            <a:avLst/>
          </a:prstGeom>
          <a:solidFill>
            <a:srgbClr val="EEF3FB"/>
          </a:solidFill>
          <a:ln w="9525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4663440"/>
            <a:ext cx="2743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2347A"/>
                </a:solidFill>
                <a:latin typeface="맑은 고딕"/>
              </a:rPr>
              <a:t>ISO 9001:2015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566160" y="4663440"/>
            <a:ext cx="800100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730752" y="4663440"/>
            <a:ext cx="77724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2230"/>
                </a:solidFill>
                <a:latin typeface="맑은 고딕"/>
              </a:rPr>
              <a:t>품질경영시스템 (KS Q ISO 9001:2015)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5084064"/>
            <a:ext cx="2926080" cy="420624"/>
          </a:xfrm>
          <a:prstGeom prst="rect">
            <a:avLst/>
          </a:prstGeom>
          <a:solidFill>
            <a:srgbClr val="EEF3FB"/>
          </a:solidFill>
          <a:ln w="9525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5084064"/>
            <a:ext cx="2743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2347A"/>
                </a:solidFill>
                <a:latin typeface="맑은 고딕"/>
              </a:rPr>
              <a:t>ISO 14001:2015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566160" y="5084064"/>
            <a:ext cx="800100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730752" y="5084064"/>
            <a:ext cx="77724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2230"/>
                </a:solidFill>
                <a:latin typeface="맑은 고딕"/>
              </a:rPr>
              <a:t>환경경영시스템 (KS I ISO 14001:2015)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5504688"/>
            <a:ext cx="2926080" cy="420624"/>
          </a:xfrm>
          <a:prstGeom prst="rect">
            <a:avLst/>
          </a:prstGeom>
          <a:solidFill>
            <a:srgbClr val="EEF3FB"/>
          </a:solidFill>
          <a:ln w="9525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240" y="5504688"/>
            <a:ext cx="2743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2347A"/>
                </a:solidFill>
                <a:latin typeface="맑은 고딕"/>
              </a:rPr>
              <a:t>ISO 45001:2018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66160" y="5504688"/>
            <a:ext cx="800100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730752" y="5504688"/>
            <a:ext cx="77724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2230"/>
                </a:solidFill>
                <a:latin typeface="맑은 고딕"/>
              </a:rPr>
              <a:t>안전보건경영시스템 (KS Q ISO 45001:2018)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5925312"/>
            <a:ext cx="2926080" cy="420624"/>
          </a:xfrm>
          <a:prstGeom prst="rect">
            <a:avLst/>
          </a:prstGeom>
          <a:solidFill>
            <a:srgbClr val="EEF3FB"/>
          </a:solidFill>
          <a:ln w="9525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" y="5925312"/>
            <a:ext cx="2743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2347A"/>
                </a:solidFill>
                <a:latin typeface="맑은 고딕"/>
              </a:rPr>
              <a:t>신용평가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566160" y="5925312"/>
            <a:ext cx="800100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730752" y="5925312"/>
            <a:ext cx="77724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2230"/>
                </a:solidFill>
                <a:latin typeface="맑은 고딕"/>
              </a:rPr>
              <a:t>NICE디앤비 종합신용등급 BB · 현금흐름등급 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23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F6FEB"/>
                </a:solidFill>
                <a:latin typeface="맑은 고딕"/>
              </a:rPr>
              <a:t>04  </a:t>
            </a:r>
            <a:r>
              <a:rPr sz="2600" b="1">
                <a:solidFill>
                  <a:srgbClr val="1A2230"/>
                </a:solidFill>
                <a:latin typeface="맑은 고딕"/>
              </a:rPr>
              <a:t>조직 &amp; 인력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2412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AEB7C6"/>
                </a:solidFill>
                <a:latin typeface="맑은 고딕"/>
              </a:rPr>
              <a:t>Organization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566928" cy="411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94015" y="54864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5B6678"/>
                </a:solidFill>
                <a:latin typeface="맑은 고딕"/>
              </a:rPr>
              <a:t>㈜엣지컴퍼니  |  지명원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737360"/>
            <a:ext cx="10972800" cy="2468880"/>
          </a:xfrm>
          <a:prstGeom prst="roundRect">
            <a:avLst/>
          </a:prstGeom>
          <a:solidFill>
            <a:srgbClr val="F3F6FC"/>
          </a:solidFill>
          <a:ln w="19050">
            <a:solidFill>
              <a:srgbClr val="B9C6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132380"/>
            <a:ext cx="10972800" cy="1728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>
                <a:solidFill>
                  <a:srgbClr val="7F8BA0"/>
                </a:solidFill>
                <a:latin typeface="맑은 고딕"/>
              </a:rPr>
              <a:t>🗂️</a:t>
            </a:r>
          </a:p>
          <a:p>
            <a:pPr algn="ctr">
              <a:lnSpc>
                <a:spcPct val="105000"/>
              </a:lnSpc>
            </a:pPr>
            <a:r>
              <a:rPr sz="1150" b="1">
                <a:solidFill>
                  <a:srgbClr val="48566B"/>
                </a:solidFill>
                <a:latin typeface="맑은 고딕"/>
              </a:rPr>
              <a:t>조직도</a:t>
            </a:r>
          </a:p>
          <a:p>
            <a:pPr algn="ctr">
              <a:lnSpc>
                <a:spcPct val="105000"/>
              </a:lnSpc>
            </a:pPr>
            <a:r>
              <a:rPr sz="900" b="0">
                <a:solidFill>
                  <a:srgbClr val="92A0B5"/>
                </a:solidFill>
                <a:latin typeface="맑은 고딕"/>
              </a:rPr>
              <a:t>대표이사 고진식 → [경영지원] [영업] [조명 시공본부] [ACRO 제품·생산본부] [스마트홈 개발] → 전국 22개 지사망</a:t>
            </a:r>
          </a:p>
          <a:p>
            <a:pPr algn="ctr">
              <a:lnSpc>
                <a:spcPct val="105000"/>
              </a:lnSpc>
            </a:pPr>
            <a:r>
              <a:rPr sz="850" b="1">
                <a:solidFill>
                  <a:srgbClr val="1F6FEB"/>
                </a:solidFill>
                <a:latin typeface="맑은 고딕"/>
              </a:rPr>
              <a:t>▣ ChatGPT/PPT 도형으로 생성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38912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A2230"/>
                </a:solidFill>
                <a:latin typeface="맑은 고딕"/>
              </a:rPr>
              <a:t>기술 · 시공 인력 현황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4736592"/>
            <a:ext cx="201168" cy="274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5166360"/>
            <a:ext cx="26974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5321808"/>
            <a:ext cx="2697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1F6FEB"/>
                </a:solidFill>
                <a:latin typeface="맑은 고딕"/>
              </a:rPr>
              <a:t>5명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852160"/>
            <a:ext cx="2697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5B6678"/>
                </a:solidFill>
                <a:latin typeface="맑은 고딕"/>
              </a:rPr>
              <a:t>전기공사기술사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56432" y="5166360"/>
            <a:ext cx="26974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6432" y="5321808"/>
            <a:ext cx="2697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1F6FEB"/>
                </a:solidFill>
                <a:latin typeface="맑은 고딕"/>
              </a:rPr>
              <a:t>3명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56432" y="5852160"/>
            <a:ext cx="2697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5B6678"/>
                </a:solidFill>
                <a:latin typeface="맑은 고딕"/>
              </a:rPr>
              <a:t>조명·조도 설계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72784" y="5166360"/>
            <a:ext cx="26974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72784" y="5321808"/>
            <a:ext cx="2697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1F6FEB"/>
                </a:solidFill>
                <a:latin typeface="맑은 고딕"/>
              </a:rPr>
              <a:t>본사 8 · 지사 25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2784" y="5852160"/>
            <a:ext cx="2697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5B6678"/>
                </a:solidFill>
                <a:latin typeface="맑은 고딕"/>
              </a:rPr>
              <a:t>시공팀·기능공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89136" y="5166360"/>
            <a:ext cx="26974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89136" y="5321808"/>
            <a:ext cx="2697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1F6FEB"/>
                </a:solidFill>
                <a:latin typeface="맑은 고딕"/>
              </a:rPr>
              <a:t>2명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89136" y="5852160"/>
            <a:ext cx="2697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5B6678"/>
                </a:solidFill>
                <a:latin typeface="맑은 고딕"/>
              </a:rPr>
              <a:t>견적·적산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23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F6FEB"/>
                </a:solidFill>
                <a:latin typeface="맑은 고딕"/>
              </a:rPr>
              <a:t>05  </a:t>
            </a:r>
            <a:r>
              <a:rPr sz="2600" b="1">
                <a:solidFill>
                  <a:srgbClr val="1A2230"/>
                </a:solidFill>
                <a:latin typeface="맑은 고딕"/>
              </a:rPr>
              <a:t>사업 · 제품 영역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2412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AEB7C6"/>
                </a:solidFill>
                <a:latin typeface="맑은 고딕"/>
              </a:rPr>
              <a:t>Business &amp; Product Scope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566928" cy="411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94015" y="54864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5B6678"/>
                </a:solidFill>
                <a:latin typeface="맑은 고딕"/>
              </a:rPr>
              <a:t>㈜엣지컴퍼니  |  지명원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534924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2057400"/>
            <a:ext cx="685800" cy="685800"/>
          </a:xfrm>
          <a:prstGeom prst="roundRect">
            <a:avLst/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057400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0">
                <a:solidFill>
                  <a:srgbClr val="1F6FEB"/>
                </a:solidFill>
                <a:latin typeface="맑은 고딕"/>
              </a:rPr>
              <a:t>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83080" y="2148840"/>
            <a:ext cx="4023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A2230"/>
                </a:solidFill>
                <a:latin typeface="맑은 고딕"/>
              </a:rPr>
              <a:t>ACRO 제품 제조·공급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2697480"/>
            <a:ext cx="40233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5B6678"/>
                </a:solidFill>
                <a:latin typeface="맑은 고딕"/>
              </a:rPr>
              <a:t>실링팬·조명·스위치·전동커튼·욕실 전열교환기를 자체 브랜드로 제조·공급.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783080"/>
            <a:ext cx="534924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46520" y="2057400"/>
            <a:ext cx="685800" cy="685800"/>
          </a:xfrm>
          <a:prstGeom prst="roundRect">
            <a:avLst/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057400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0">
                <a:solidFill>
                  <a:srgbClr val="1F6FEB"/>
                </a:solidFill>
                <a:latin typeface="맑은 고딕"/>
              </a:rPr>
              <a:t>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2148840"/>
            <a:ext cx="4023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A2230"/>
                </a:solidFill>
                <a:latin typeface="맑은 고딕"/>
              </a:rPr>
              <a:t>스마트홈 시스템 개발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0" y="2697480"/>
            <a:ext cx="40233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5B6678"/>
                </a:solidFill>
                <a:latin typeface="맑은 고딕"/>
              </a:rPr>
              <a:t>팬·커튼·스위치·조명 디밍을 하나의 앱으로 통합 제어 — 국내 최초 자체 개발.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977639"/>
            <a:ext cx="534924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14400" y="4251959"/>
            <a:ext cx="685800" cy="685800"/>
          </a:xfrm>
          <a:prstGeom prst="roundRect">
            <a:avLst/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251959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0">
                <a:solidFill>
                  <a:srgbClr val="1F6FEB"/>
                </a:solidFill>
                <a:latin typeface="맑은 고딕"/>
              </a:rPr>
              <a:t>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4343400"/>
            <a:ext cx="4023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A2230"/>
                </a:solidFill>
                <a:latin typeface="맑은 고딕"/>
              </a:rPr>
              <a:t>실내조명 시공·납품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83080" y="4892040"/>
            <a:ext cx="40233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5B6678"/>
                </a:solidFill>
                <a:latin typeface="맑은 고딕"/>
              </a:rPr>
              <a:t>주거·상업공간 조도·색온도 설계와 조명 설치·납품. 실링팬·디밍 조명 일괄.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3977639"/>
            <a:ext cx="534924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446520" y="4251959"/>
            <a:ext cx="685800" cy="685800"/>
          </a:xfrm>
          <a:prstGeom prst="roundRect">
            <a:avLst/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4251959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0">
                <a:solidFill>
                  <a:srgbClr val="1F6FEB"/>
                </a:solidFill>
                <a:latin typeface="맑은 고딕"/>
              </a:rPr>
              <a:t>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0" y="4343400"/>
            <a:ext cx="4023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A2230"/>
                </a:solidFill>
                <a:latin typeface="맑은 고딕"/>
              </a:rPr>
              <a:t>실외 경관조명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0" y="4892040"/>
            <a:ext cx="40233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5B6678"/>
                </a:solidFill>
                <a:latin typeface="맑은 고딕"/>
              </a:rPr>
              <a:t>건물 외관·단지 야간 경관조명 설계·시공. 단지 랜드마크화·야간 가치 향상.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23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F6FEB"/>
                </a:solidFill>
                <a:latin typeface="맑은 고딕"/>
              </a:rPr>
              <a:t>06  </a:t>
            </a:r>
            <a:r>
              <a:rPr sz="2600" b="1">
                <a:solidFill>
                  <a:srgbClr val="1A2230"/>
                </a:solidFill>
                <a:latin typeface="맑은 고딕"/>
              </a:rPr>
              <a:t>공동구매 공급 연혁 — 요약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2412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AEB7C6"/>
                </a:solidFill>
                <a:latin typeface="맑은 고딕"/>
              </a:rPr>
              <a:t>Group-Purchase Supply Record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566928" cy="411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94015" y="54864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5B6678"/>
                </a:solidFill>
                <a:latin typeface="맑은 고딕"/>
              </a:rPr>
              <a:t>㈜엣지컴퍼니  |  지명원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3A4456"/>
                </a:solidFill>
                <a:latin typeface="맑은 고딕"/>
              </a:rPr>
              <a:t>입주 단지 공동구매를 통해 ACRO·조명 제품을 공급한 연혁입니다. </a:t>
            </a:r>
            <a:r>
              <a:rPr sz="1250" b="1">
                <a:solidFill>
                  <a:srgbClr val="1A2230"/>
                </a:solidFill>
                <a:latin typeface="맑은 고딕"/>
              </a:rPr>
              <a:t>사송신도시 90% · 에코델타시티 90% 수임.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2468880"/>
          <a:ext cx="10972800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4206240"/>
                <a:gridCol w="2377440"/>
                <a:gridCol w="201168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연도</a:t>
                      </a:r>
                    </a:p>
                  </a:txBody>
                  <a:tcPr marL="73152" marR="54864" marT="27432" marB="27432" anchor="ctr">
                    <a:solidFill>
                      <a:srgbClr val="12347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단지 수</a:t>
                      </a:r>
                    </a:p>
                  </a:txBody>
                  <a:tcPr marL="73152" marR="54864" marT="27432" marB="27432" anchor="ctr">
                    <a:solidFill>
                      <a:srgbClr val="12347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총 세대수</a:t>
                      </a:r>
                    </a:p>
                  </a:txBody>
                  <a:tcPr marL="73152" marR="54864" marT="27432" marB="27432" anchor="ctr">
                    <a:solidFill>
                      <a:srgbClr val="12347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1,000세대↑</a:t>
                      </a:r>
                    </a:p>
                  </a:txBody>
                  <a:tcPr marL="73152" marR="54864" marT="27432" marB="27432" anchor="ctr">
                    <a:solidFill>
                      <a:srgbClr val="12347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2024년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[ 단지 목록 회장 확정 ]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2025년</a:t>
                      </a:r>
                    </a:p>
                  </a:txBody>
                  <a:tcPr marL="73152" marR="54864" marT="27432" marB="27432" anchor="ctr">
                    <a:solidFill>
                      <a:srgbClr val="FAFC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10개 단지</a:t>
                      </a:r>
                    </a:p>
                  </a:txBody>
                  <a:tcPr marL="73152" marR="54864" marT="27432" marB="27432" anchor="ctr">
                    <a:solidFill>
                      <a:srgbClr val="FAFC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10,146</a:t>
                      </a:r>
                    </a:p>
                  </a:txBody>
                  <a:tcPr marL="73152" marR="54864" marT="27432" marB="27432" anchor="ctr">
                    <a:solidFill>
                      <a:srgbClr val="FAFC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marL="73152" marR="54864" marT="27432" marB="27432" anchor="ctr">
                    <a:solidFill>
                      <a:srgbClr val="FAFC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2026년 (확정)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12개 단지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9,148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40080" y="4754880"/>
            <a:ext cx="2619756" cy="868680"/>
          </a:xfrm>
          <a:prstGeom prst="roundRect">
            <a:avLst/>
          </a:prstGeom>
          <a:solidFill>
            <a:srgbClr val="123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4882896"/>
            <a:ext cx="26197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맑은 고딕"/>
              </a:rPr>
              <a:t>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321808"/>
            <a:ext cx="26197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CADCFC"/>
                </a:solidFill>
                <a:latin typeface="맑은 고딕"/>
              </a:rPr>
              <a:t>'25~'26 누적 단지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24428" y="4754880"/>
            <a:ext cx="2619756" cy="868680"/>
          </a:xfrm>
          <a:prstGeom prst="roundRect">
            <a:avLst/>
          </a:prstGeom>
          <a:solidFill>
            <a:srgbClr val="123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24428" y="4882896"/>
            <a:ext cx="26197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맑은 고딕"/>
              </a:rPr>
              <a:t>19,294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24428" y="5321808"/>
            <a:ext cx="26197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CADCFC"/>
                </a:solidFill>
                <a:latin typeface="맑은 고딕"/>
              </a:rPr>
              <a:t>누적 세대수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8776" y="4754880"/>
            <a:ext cx="2619756" cy="868680"/>
          </a:xfrm>
          <a:prstGeom prst="roundRect">
            <a:avLst/>
          </a:prstGeom>
          <a:solidFill>
            <a:srgbClr val="123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08776" y="4882896"/>
            <a:ext cx="26197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맑은 고딕"/>
              </a:rPr>
              <a:t>90%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08776" y="5321808"/>
            <a:ext cx="26197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CADCFC"/>
                </a:solidFill>
                <a:latin typeface="맑은 고딕"/>
              </a:rPr>
              <a:t>사송·에코델타 수임률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93124" y="4754880"/>
            <a:ext cx="2619756" cy="868680"/>
          </a:xfrm>
          <a:prstGeom prst="roundRect">
            <a:avLst/>
          </a:prstGeom>
          <a:solidFill>
            <a:srgbClr val="123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93124" y="4882896"/>
            <a:ext cx="26197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3124" y="5321808"/>
            <a:ext cx="26197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CADCFC"/>
                </a:solidFill>
                <a:latin typeface="맑은 고딕"/>
              </a:rPr>
              <a:t>1,000세대↑ 대단지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897880"/>
            <a:ext cx="10972800" cy="502920"/>
          </a:xfrm>
          <a:prstGeom prst="roundRect">
            <a:avLst/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1" y="6007608"/>
            <a:ext cx="10643616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30" b="0">
                <a:solidFill>
                  <a:srgbClr val="3F4D63"/>
                </a:solidFill>
                <a:latin typeface="맑은 고딕"/>
              </a:rPr>
              <a:t>※ 2024년 단지 목록은 회장님 자료 입력 후 채웁니다. 2025·2026은 실제 수임실적 기준.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23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F6FEB"/>
                </a:solidFill>
                <a:latin typeface="맑은 고딕"/>
              </a:rPr>
              <a:t>06  </a:t>
            </a:r>
            <a:r>
              <a:rPr sz="2600" b="1">
                <a:solidFill>
                  <a:srgbClr val="1A2230"/>
                </a:solidFill>
                <a:latin typeface="맑은 고딕"/>
              </a:rPr>
              <a:t>공동구매 공급 연혁 ① 2025년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2412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AEB7C6"/>
                </a:solidFill>
                <a:latin typeface="맑은 고딕"/>
              </a:rPr>
              <a:t>Record 2025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566928" cy="411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94015" y="54864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5B6678"/>
                </a:solidFill>
                <a:latin typeface="맑은 고딕"/>
              </a:rPr>
              <a:t>㈜엣지컴퍼니  |  지명원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691640"/>
          <a:ext cx="10972800" cy="34838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22960"/>
                <a:gridCol w="4206240"/>
                <a:gridCol w="3017520"/>
                <a:gridCol w="1554480"/>
                <a:gridCol w="1371600"/>
              </a:tblGrid>
              <a:tr h="329184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NO</a:t>
                      </a:r>
                    </a:p>
                  </a:txBody>
                  <a:tcPr marL="73152" marR="54864" marT="27432" marB="27432" anchor="ctr">
                    <a:solidFill>
                      <a:srgbClr val="12347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단지명</a:t>
                      </a:r>
                    </a:p>
                  </a:txBody>
                  <a:tcPr marL="73152" marR="54864" marT="27432" marB="27432" anchor="ctr">
                    <a:solidFill>
                      <a:srgbClr val="12347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지역</a:t>
                      </a:r>
                    </a:p>
                  </a:txBody>
                  <a:tcPr marL="73152" marR="54864" marT="27432" marB="27432" anchor="ctr">
                    <a:solidFill>
                      <a:srgbClr val="12347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세대수</a:t>
                      </a:r>
                    </a:p>
                  </a:txBody>
                  <a:tcPr marL="73152" marR="54864" marT="27432" marB="27432" anchor="ctr">
                    <a:solidFill>
                      <a:srgbClr val="12347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구분</a:t>
                      </a:r>
                    </a:p>
                  </a:txBody>
                  <a:tcPr marL="73152" marR="54864" marT="27432" marB="27432" anchor="ctr">
                    <a:solidFill>
                      <a:srgbClr val="12347A"/>
                    </a:solidFill>
                  </a:tcPr>
                </a:tc>
              </a:tr>
              <a:tr h="315468"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울산 유보라 신천매곡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울산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352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공동구매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15468"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 marL="73152" marR="54864" marT="27432" marB="27432" anchor="ctr">
                    <a:solidFill>
                      <a:srgbClr val="FAFC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춘천 중해마루 ★</a:t>
                      </a:r>
                    </a:p>
                  </a:txBody>
                  <a:tcPr marL="73152" marR="54864" marT="27432" marB="27432" anchor="ctr">
                    <a:solidFill>
                      <a:srgbClr val="FAFC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강원 춘천</a:t>
                      </a:r>
                    </a:p>
                  </a:txBody>
                  <a:tcPr marL="73152" marR="54864" marT="27432" marB="27432" anchor="ctr">
                    <a:solidFill>
                      <a:srgbClr val="FAFC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1">
                          <a:solidFill>
                            <a:srgbClr val="1F6FEB"/>
                          </a:solidFill>
                          <a:latin typeface="맑은 고딕"/>
                        </a:rPr>
                        <a:t>1,114</a:t>
                      </a:r>
                    </a:p>
                  </a:txBody>
                  <a:tcPr marL="73152" marR="54864" marT="27432" marB="27432" anchor="ctr">
                    <a:solidFill>
                      <a:srgbClr val="FAFC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공동구매</a:t>
                      </a:r>
                    </a:p>
                  </a:txBody>
                  <a:tcPr marL="73152" marR="54864" marT="27432" marB="27432" anchor="ctr">
                    <a:solidFill>
                      <a:srgbClr val="FAFCFF"/>
                    </a:solidFill>
                  </a:tcPr>
                </a:tc>
              </a:tr>
              <a:tr h="315468"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양정자이 SK뷰 ★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부산진구 양정동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1">
                          <a:solidFill>
                            <a:srgbClr val="1F6FEB"/>
                          </a:solidFill>
                          <a:latin typeface="맑은 고딕"/>
                        </a:rPr>
                        <a:t>2,276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공동구매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15468"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marL="73152" marR="54864" marT="27432" marB="27432" anchor="ctr">
                    <a:solidFill>
                      <a:srgbClr val="FAFC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에코델타시티 강서자이</a:t>
                      </a:r>
                    </a:p>
                  </a:txBody>
                  <a:tcPr marL="73152" marR="54864" marT="27432" marB="27432" anchor="ctr">
                    <a:solidFill>
                      <a:srgbClr val="FAFC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부산 강서구</a:t>
                      </a:r>
                    </a:p>
                  </a:txBody>
                  <a:tcPr marL="73152" marR="54864" marT="27432" marB="27432" anchor="ctr">
                    <a:solidFill>
                      <a:srgbClr val="FAFC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856</a:t>
                      </a:r>
                    </a:p>
                  </a:txBody>
                  <a:tcPr marL="73152" marR="54864" marT="27432" marB="27432" anchor="ctr">
                    <a:solidFill>
                      <a:srgbClr val="FAFC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공동구매</a:t>
                      </a:r>
                    </a:p>
                  </a:txBody>
                  <a:tcPr marL="73152" marR="54864" marT="27432" marB="27432" anchor="ctr">
                    <a:solidFill>
                      <a:srgbClr val="FAFCFF"/>
                    </a:solidFill>
                  </a:tcPr>
                </a:tc>
              </a:tr>
              <a:tr h="315468"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기장 유림노르웨이숲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부산 기장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165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공동구매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15468"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6</a:t>
                      </a:r>
                    </a:p>
                  </a:txBody>
                  <a:tcPr marL="73152" marR="54864" marT="27432" marB="27432" anchor="ctr">
                    <a:solidFill>
                      <a:srgbClr val="FAFC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두산위브 오션시티 ★</a:t>
                      </a:r>
                    </a:p>
                  </a:txBody>
                  <a:tcPr marL="73152" marR="54864" marT="27432" marB="27432" anchor="ctr">
                    <a:solidFill>
                      <a:srgbClr val="FAFC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부산 남구 우암동</a:t>
                      </a:r>
                    </a:p>
                  </a:txBody>
                  <a:tcPr marL="73152" marR="54864" marT="27432" marB="27432" anchor="ctr">
                    <a:solidFill>
                      <a:srgbClr val="FAFC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1">
                          <a:solidFill>
                            <a:srgbClr val="1F6FEB"/>
                          </a:solidFill>
                          <a:latin typeface="맑은 고딕"/>
                        </a:rPr>
                        <a:t>2,205</a:t>
                      </a:r>
                    </a:p>
                  </a:txBody>
                  <a:tcPr marL="73152" marR="54864" marT="27432" marB="27432" anchor="ctr">
                    <a:solidFill>
                      <a:srgbClr val="FAFC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공동구매</a:t>
                      </a:r>
                    </a:p>
                  </a:txBody>
                  <a:tcPr marL="73152" marR="54864" marT="27432" marB="27432" anchor="ctr">
                    <a:solidFill>
                      <a:srgbClr val="FAFCFF"/>
                    </a:solidFill>
                  </a:tcPr>
                </a:tc>
              </a:tr>
              <a:tr h="315468"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기장역 엘쿠르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부산 기장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219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공동구매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15468"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8</a:t>
                      </a:r>
                    </a:p>
                  </a:txBody>
                  <a:tcPr marL="73152" marR="54864" marT="27432" marB="27432" anchor="ctr">
                    <a:solidFill>
                      <a:srgbClr val="FAFC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에코델타시티 이편한세상</a:t>
                      </a:r>
                    </a:p>
                  </a:txBody>
                  <a:tcPr marL="73152" marR="54864" marT="27432" marB="27432" anchor="ctr">
                    <a:solidFill>
                      <a:srgbClr val="FAFC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부산 강서구</a:t>
                      </a:r>
                    </a:p>
                  </a:txBody>
                  <a:tcPr marL="73152" marR="54864" marT="27432" marB="27432" anchor="ctr">
                    <a:solidFill>
                      <a:srgbClr val="FAFC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953</a:t>
                      </a:r>
                    </a:p>
                  </a:txBody>
                  <a:tcPr marL="73152" marR="54864" marT="27432" marB="27432" anchor="ctr">
                    <a:solidFill>
                      <a:srgbClr val="FAFC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공동구매</a:t>
                      </a:r>
                    </a:p>
                  </a:txBody>
                  <a:tcPr marL="73152" marR="54864" marT="27432" marB="27432" anchor="ctr">
                    <a:solidFill>
                      <a:srgbClr val="FAFCFF"/>
                    </a:solidFill>
                  </a:tcPr>
                </a:tc>
              </a:tr>
              <a:tr h="315468"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9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에코델타 푸르지오린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부산 강서구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886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공동구매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15468"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73152" marR="54864" marT="27432" marB="27432" anchor="ctr">
                    <a:solidFill>
                      <a:srgbClr val="FAFC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에코델타 대성베르힐 ★</a:t>
                      </a:r>
                    </a:p>
                  </a:txBody>
                  <a:tcPr marL="73152" marR="54864" marT="27432" marB="27432" anchor="ctr">
                    <a:solidFill>
                      <a:srgbClr val="FAFC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부산 강서구</a:t>
                      </a:r>
                    </a:p>
                  </a:txBody>
                  <a:tcPr marL="73152" marR="54864" marT="27432" marB="27432" anchor="ctr">
                    <a:solidFill>
                      <a:srgbClr val="FAFC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1">
                          <a:solidFill>
                            <a:srgbClr val="1F6FEB"/>
                          </a:solidFill>
                          <a:latin typeface="맑은 고딕"/>
                        </a:rPr>
                        <a:t>1,120</a:t>
                      </a:r>
                    </a:p>
                  </a:txBody>
                  <a:tcPr marL="73152" marR="54864" marT="27432" marB="27432" anchor="ctr">
                    <a:solidFill>
                      <a:srgbClr val="FAFC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공동구매</a:t>
                      </a:r>
                    </a:p>
                  </a:txBody>
                  <a:tcPr marL="73152" marR="54864" marT="27432" marB="27432" anchor="ctr">
                    <a:solidFill>
                      <a:srgbClr val="FAFC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" y="5257800"/>
            <a:ext cx="3547872" cy="868680"/>
          </a:xfrm>
          <a:prstGeom prst="roundRect">
            <a:avLst/>
          </a:prstGeom>
          <a:solidFill>
            <a:srgbClr val="123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385816"/>
            <a:ext cx="35478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맑은 고딕"/>
              </a:rPr>
              <a:t>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824728"/>
            <a:ext cx="35478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CADCFC"/>
                </a:solidFill>
                <a:latin typeface="맑은 고딕"/>
              </a:rPr>
              <a:t>공급 단지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52544" y="5257800"/>
            <a:ext cx="3547872" cy="868680"/>
          </a:xfrm>
          <a:prstGeom prst="roundRect">
            <a:avLst/>
          </a:prstGeom>
          <a:solidFill>
            <a:srgbClr val="123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52544" y="5385816"/>
            <a:ext cx="35478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맑은 고딕"/>
              </a:rPr>
              <a:t>10,146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52544" y="5824728"/>
            <a:ext cx="35478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CADCFC"/>
                </a:solidFill>
                <a:latin typeface="맑은 고딕"/>
              </a:rPr>
              <a:t>총 세대수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65008" y="5257800"/>
            <a:ext cx="3547872" cy="868680"/>
          </a:xfrm>
          <a:prstGeom prst="roundRect">
            <a:avLst/>
          </a:prstGeom>
          <a:solidFill>
            <a:srgbClr val="123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65008" y="5385816"/>
            <a:ext cx="35478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65008" y="5824728"/>
            <a:ext cx="35478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CADCFC"/>
                </a:solidFill>
                <a:latin typeface="맑은 고딕"/>
              </a:rPr>
              <a:t>1,000세대↑ 대단지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23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F6FEB"/>
                </a:solidFill>
                <a:latin typeface="맑은 고딕"/>
              </a:rPr>
              <a:t>06  </a:t>
            </a:r>
            <a:r>
              <a:rPr sz="2600" b="1">
                <a:solidFill>
                  <a:srgbClr val="1A2230"/>
                </a:solidFill>
                <a:latin typeface="맑은 고딕"/>
              </a:rPr>
              <a:t>공동구매 공급 연혁 ② 2026년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2412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AEB7C6"/>
                </a:solidFill>
                <a:latin typeface="맑은 고딕"/>
              </a:rPr>
              <a:t>Record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566928" cy="411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94015" y="54864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5B6678"/>
                </a:solidFill>
                <a:latin typeface="맑은 고딕"/>
              </a:rPr>
              <a:t>㈜엣지컴퍼니  |  지명원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645920"/>
          <a:ext cx="10881360" cy="38176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22960"/>
                <a:gridCol w="4572000"/>
                <a:gridCol w="2651760"/>
                <a:gridCol w="1463040"/>
                <a:gridCol w="1371600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NO</a:t>
                      </a:r>
                    </a:p>
                  </a:txBody>
                  <a:tcPr marL="73152" marR="54864" marT="27432" marB="27432" anchor="ctr">
                    <a:solidFill>
                      <a:srgbClr val="12347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단지명</a:t>
                      </a:r>
                    </a:p>
                  </a:txBody>
                  <a:tcPr marL="73152" marR="54864" marT="27432" marB="27432" anchor="ctr">
                    <a:solidFill>
                      <a:srgbClr val="12347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지역</a:t>
                      </a:r>
                    </a:p>
                  </a:txBody>
                  <a:tcPr marL="73152" marR="54864" marT="27432" marB="27432" anchor="ctr">
                    <a:solidFill>
                      <a:srgbClr val="12347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세대수</a:t>
                      </a:r>
                    </a:p>
                  </a:txBody>
                  <a:tcPr marL="73152" marR="54864" marT="27432" marB="27432" anchor="ctr">
                    <a:solidFill>
                      <a:srgbClr val="12347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구분</a:t>
                      </a:r>
                    </a:p>
                  </a:txBody>
                  <a:tcPr marL="73152" marR="54864" marT="27432" marB="27432" anchor="ctr">
                    <a:solidFill>
                      <a:srgbClr val="12347A"/>
                    </a:solidFill>
                  </a:tcPr>
                </a:tc>
              </a:tr>
              <a:tr h="269748"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사송 데시앙 3차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양산 사송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672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확정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69748"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 marL="73152" marR="54864" marT="27432" marB="27432" anchor="ctr">
                    <a:solidFill>
                      <a:srgbClr val="FAFC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사송 LH 신혼희망타운 2차</a:t>
                      </a:r>
                    </a:p>
                  </a:txBody>
                  <a:tcPr marL="73152" marR="54864" marT="27432" marB="27432" anchor="ctr">
                    <a:solidFill>
                      <a:srgbClr val="FAFC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양산 사송</a:t>
                      </a:r>
                    </a:p>
                  </a:txBody>
                  <a:tcPr marL="73152" marR="54864" marT="27432" marB="27432" anchor="ctr">
                    <a:solidFill>
                      <a:srgbClr val="FAFC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479</a:t>
                      </a:r>
                    </a:p>
                  </a:txBody>
                  <a:tcPr marL="73152" marR="54864" marT="27432" marB="27432" anchor="ctr">
                    <a:solidFill>
                      <a:srgbClr val="FAFC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확정</a:t>
                      </a:r>
                    </a:p>
                  </a:txBody>
                  <a:tcPr marL="73152" marR="54864" marT="27432" marB="27432" anchor="ctr">
                    <a:solidFill>
                      <a:srgbClr val="FAFCFF"/>
                    </a:solidFill>
                  </a:tcPr>
                </a:tc>
              </a:tr>
              <a:tr h="269748"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사송 더샵 3차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양산 사송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533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확정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69748"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marL="73152" marR="54864" marT="27432" marB="27432" anchor="ctr">
                    <a:solidFill>
                      <a:srgbClr val="FAFC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사송 제일 풍경채</a:t>
                      </a:r>
                    </a:p>
                  </a:txBody>
                  <a:tcPr marL="73152" marR="54864" marT="27432" marB="27432" anchor="ctr">
                    <a:solidFill>
                      <a:srgbClr val="FAFC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양산 사송</a:t>
                      </a:r>
                    </a:p>
                  </a:txBody>
                  <a:tcPr marL="73152" marR="54864" marT="27432" marB="27432" anchor="ctr">
                    <a:solidFill>
                      <a:srgbClr val="FAFC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452</a:t>
                      </a:r>
                    </a:p>
                  </a:txBody>
                  <a:tcPr marL="73152" marR="54864" marT="27432" marB="27432" anchor="ctr">
                    <a:solidFill>
                      <a:srgbClr val="FAFC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확정</a:t>
                      </a:r>
                    </a:p>
                  </a:txBody>
                  <a:tcPr marL="73152" marR="54864" marT="27432" marB="27432" anchor="ctr">
                    <a:solidFill>
                      <a:srgbClr val="FAFCFF"/>
                    </a:solidFill>
                  </a:tcPr>
                </a:tc>
              </a:tr>
              <a:tr h="269748"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사송 우미린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양산 사송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688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확정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69748"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6</a:t>
                      </a:r>
                    </a:p>
                  </a:txBody>
                  <a:tcPr marL="73152" marR="54864" marT="27432" marB="27432" anchor="ctr">
                    <a:solidFill>
                      <a:srgbClr val="FAFC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사송 롯데캐슬</a:t>
                      </a:r>
                    </a:p>
                  </a:txBody>
                  <a:tcPr marL="73152" marR="54864" marT="27432" marB="27432" anchor="ctr">
                    <a:solidFill>
                      <a:srgbClr val="FAFC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양산 사송</a:t>
                      </a:r>
                    </a:p>
                  </a:txBody>
                  <a:tcPr marL="73152" marR="54864" marT="27432" marB="27432" anchor="ctr">
                    <a:solidFill>
                      <a:srgbClr val="FAFC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AFC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진행</a:t>
                      </a:r>
                    </a:p>
                  </a:txBody>
                  <a:tcPr marL="73152" marR="54864" marT="27432" marB="27432" anchor="ctr">
                    <a:solidFill>
                      <a:srgbClr val="FAFCFF"/>
                    </a:solidFill>
                  </a:tcPr>
                </a:tc>
              </a:tr>
              <a:tr h="269748"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에코델타 이편한세상 센터포인트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부산 강서구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953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확정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69748"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8</a:t>
                      </a:r>
                    </a:p>
                  </a:txBody>
                  <a:tcPr marL="73152" marR="54864" marT="27432" marB="27432" anchor="ctr">
                    <a:solidFill>
                      <a:srgbClr val="FAFC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에코델타 강서자이</a:t>
                      </a:r>
                    </a:p>
                  </a:txBody>
                  <a:tcPr marL="73152" marR="54864" marT="27432" marB="27432" anchor="ctr">
                    <a:solidFill>
                      <a:srgbClr val="FAFC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부산 강서구</a:t>
                      </a:r>
                    </a:p>
                  </a:txBody>
                  <a:tcPr marL="73152" marR="54864" marT="27432" marB="27432" anchor="ctr">
                    <a:solidFill>
                      <a:srgbClr val="FAFC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856</a:t>
                      </a:r>
                    </a:p>
                  </a:txBody>
                  <a:tcPr marL="73152" marR="54864" marT="27432" marB="27432" anchor="ctr">
                    <a:solidFill>
                      <a:srgbClr val="FAFC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확정</a:t>
                      </a:r>
                    </a:p>
                  </a:txBody>
                  <a:tcPr marL="73152" marR="54864" marT="27432" marB="27432" anchor="ctr">
                    <a:solidFill>
                      <a:srgbClr val="FAFCFF"/>
                    </a:solidFill>
                  </a:tcPr>
                </a:tc>
              </a:tr>
              <a:tr h="269748"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9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에코델타 푸르지오린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부산 강서구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886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확정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69748"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73152" marR="54864" marT="27432" marB="27432" anchor="ctr">
                    <a:solidFill>
                      <a:srgbClr val="FAFC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에코델타 대성베르힐 ★</a:t>
                      </a:r>
                    </a:p>
                  </a:txBody>
                  <a:tcPr marL="73152" marR="54864" marT="27432" marB="27432" anchor="ctr">
                    <a:solidFill>
                      <a:srgbClr val="FAFC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부산 강서구</a:t>
                      </a:r>
                    </a:p>
                  </a:txBody>
                  <a:tcPr marL="73152" marR="54864" marT="27432" marB="27432" anchor="ctr">
                    <a:solidFill>
                      <a:srgbClr val="FAFC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1">
                          <a:solidFill>
                            <a:srgbClr val="1F6FEB"/>
                          </a:solidFill>
                          <a:latin typeface="맑은 고딕"/>
                        </a:rPr>
                        <a:t>1,120</a:t>
                      </a:r>
                    </a:p>
                  </a:txBody>
                  <a:tcPr marL="73152" marR="54864" marT="27432" marB="27432" anchor="ctr">
                    <a:solidFill>
                      <a:srgbClr val="FAFC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확정</a:t>
                      </a:r>
                    </a:p>
                  </a:txBody>
                  <a:tcPr marL="73152" marR="54864" marT="27432" marB="27432" anchor="ctr">
                    <a:solidFill>
                      <a:srgbClr val="FAFCFF"/>
                    </a:solidFill>
                  </a:tcPr>
                </a:tc>
              </a:tr>
              <a:tr h="269748"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11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에코델타 대방 디에트르(더퍼스트)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부산 강서구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972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확정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69748"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12</a:t>
                      </a:r>
                    </a:p>
                  </a:txBody>
                  <a:tcPr marL="73152" marR="54864" marT="27432" marB="27432" anchor="ctr">
                    <a:solidFill>
                      <a:srgbClr val="FAFC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에코델타 중흥S클래스(16블록) ★</a:t>
                      </a:r>
                    </a:p>
                  </a:txBody>
                  <a:tcPr marL="73152" marR="54864" marT="27432" marB="27432" anchor="ctr">
                    <a:solidFill>
                      <a:srgbClr val="FAFC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부산 강서구</a:t>
                      </a:r>
                    </a:p>
                  </a:txBody>
                  <a:tcPr marL="73152" marR="54864" marT="27432" marB="27432" anchor="ctr">
                    <a:solidFill>
                      <a:srgbClr val="FAFC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1">
                          <a:solidFill>
                            <a:srgbClr val="1F6FEB"/>
                          </a:solidFill>
                          <a:latin typeface="맑은 고딕"/>
                        </a:rPr>
                        <a:t>1,067</a:t>
                      </a:r>
                    </a:p>
                  </a:txBody>
                  <a:tcPr marL="73152" marR="54864" marT="27432" marB="27432" anchor="ctr">
                    <a:solidFill>
                      <a:srgbClr val="FAFC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진행</a:t>
                      </a:r>
                    </a:p>
                  </a:txBody>
                  <a:tcPr marL="73152" marR="54864" marT="27432" marB="27432" anchor="ctr">
                    <a:solidFill>
                      <a:srgbClr val="FAFCFF"/>
                    </a:solidFill>
                  </a:tcPr>
                </a:tc>
              </a:tr>
              <a:tr h="269748"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13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에코델타 대방 엘리움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부산 강서구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470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진행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" y="5577840"/>
            <a:ext cx="3547872" cy="868680"/>
          </a:xfrm>
          <a:prstGeom prst="roundRect">
            <a:avLst/>
          </a:prstGeom>
          <a:solidFill>
            <a:srgbClr val="123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705855"/>
            <a:ext cx="35478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맑은 고딕"/>
              </a:rPr>
              <a:t>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144768"/>
            <a:ext cx="35478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CADCFC"/>
                </a:solidFill>
                <a:latin typeface="맑은 고딕"/>
              </a:rPr>
              <a:t>'25~'26 누적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52544" y="5577840"/>
            <a:ext cx="3547872" cy="868680"/>
          </a:xfrm>
          <a:prstGeom prst="roundRect">
            <a:avLst/>
          </a:prstGeom>
          <a:solidFill>
            <a:srgbClr val="123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52544" y="5705855"/>
            <a:ext cx="35478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맑은 고딕"/>
              </a:rPr>
              <a:t>19,294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52544" y="6144768"/>
            <a:ext cx="35478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CADCFC"/>
                </a:solidFill>
                <a:latin typeface="맑은 고딕"/>
              </a:rPr>
              <a:t>누적 세대수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65008" y="5577840"/>
            <a:ext cx="3547872" cy="868680"/>
          </a:xfrm>
          <a:prstGeom prst="roundRect">
            <a:avLst/>
          </a:prstGeom>
          <a:solidFill>
            <a:srgbClr val="123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65008" y="5705855"/>
            <a:ext cx="35478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맑은 고딕"/>
              </a:rPr>
              <a:t>90%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65008" y="6144768"/>
            <a:ext cx="35478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CADCFC"/>
                </a:solidFill>
                <a:latin typeface="맑은 고딕"/>
              </a:rPr>
              <a:t>사송·에코델타 수임률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23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F6FEB"/>
                </a:solidFill>
                <a:latin typeface="맑은 고딕"/>
              </a:rPr>
              <a:t>07  </a:t>
            </a:r>
            <a:r>
              <a:rPr sz="2600" b="1">
                <a:solidFill>
                  <a:srgbClr val="1A2230"/>
                </a:solidFill>
                <a:latin typeface="맑은 고딕"/>
              </a:rPr>
              <a:t>ACRO 제품 ① 실링팬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2412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AEB7C6"/>
                </a:solidFill>
                <a:latin typeface="맑은 고딕"/>
              </a:rPr>
              <a:t>Ceiling Fan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566928" cy="411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94015" y="54864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5B6678"/>
                </a:solidFill>
                <a:latin typeface="맑은 고딕"/>
              </a:rPr>
              <a:t>㈜엣지컴퍼니  |  지명원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45920"/>
            <a:ext cx="1097280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04671" y="1801368"/>
            <a:ext cx="2743200" cy="2066544"/>
          </a:xfrm>
          <a:prstGeom prst="roundRect">
            <a:avLst/>
          </a:prstGeom>
          <a:solidFill>
            <a:srgbClr val="F3F6FC"/>
          </a:solidFill>
          <a:ln w="19050">
            <a:solidFill>
              <a:srgbClr val="B9C6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1" y="2132015"/>
            <a:ext cx="2743200" cy="14465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>
                <a:solidFill>
                  <a:srgbClr val="7F8BA0"/>
                </a:solidFill>
                <a:latin typeface="맑은 고딕"/>
              </a:rPr>
              <a:t>🌀</a:t>
            </a:r>
          </a:p>
          <a:p>
            <a:pPr algn="ctr">
              <a:lnSpc>
                <a:spcPct val="105000"/>
              </a:lnSpc>
            </a:pPr>
            <a:r>
              <a:rPr sz="1150" b="1">
                <a:solidFill>
                  <a:srgbClr val="48566B"/>
                </a:solidFill>
                <a:latin typeface="맑은 고딕"/>
              </a:rPr>
              <a:t>실링팬</a:t>
            </a:r>
          </a:p>
          <a:p>
            <a:pPr algn="ctr">
              <a:lnSpc>
                <a:spcPct val="105000"/>
              </a:lnSpc>
            </a:pPr>
            <a:r>
              <a:rPr sz="900" b="0">
                <a:solidFill>
                  <a:srgbClr val="92A0B5"/>
                </a:solidFill>
                <a:latin typeface="맑은 고딕"/>
              </a:rPr>
              <a:t>회장 실제 사진</a:t>
            </a:r>
          </a:p>
          <a:p>
            <a:pPr algn="ctr">
              <a:lnSpc>
                <a:spcPct val="105000"/>
              </a:lnSpc>
            </a:pPr>
            <a:r>
              <a:rPr sz="850" b="1">
                <a:solidFill>
                  <a:srgbClr val="1F6FEB"/>
                </a:solidFill>
                <a:latin typeface="맑은 고딕"/>
              </a:rPr>
              <a:t>▣ AI 생성 금지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94760" y="1847088"/>
            <a:ext cx="7589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A2230"/>
                </a:solidFill>
                <a:latin typeface="맑은 고딕"/>
              </a:rPr>
              <a:t>ACRO 시그니처 실링팬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94760" y="2249424"/>
            <a:ext cx="7589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B88A2E"/>
                </a:solidFill>
                <a:latin typeface="맑은 고딕"/>
              </a:rPr>
              <a:t>★ 프리미엄 · 블루투스 · 초슬림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2606040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678"/>
                </a:solidFill>
                <a:latin typeface="맑은 고딕"/>
              </a:rPr>
              <a:t>날개 지름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57800" y="2606040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A2230"/>
                </a:solidFill>
                <a:latin typeface="맑은 고딕"/>
              </a:rPr>
              <a:t>132cm (52인치)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94760" y="2871216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678"/>
                </a:solidFill>
                <a:latin typeface="맑은 고딕"/>
              </a:rPr>
              <a:t>모터/풍속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57800" y="2871216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A2230"/>
                </a:solidFill>
                <a:latin typeface="맑은 고딕"/>
              </a:rPr>
              <a:t>BLDC DC모터 · 6단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94760" y="313639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678"/>
                </a:solidFill>
                <a:latin typeface="맑은 고딕"/>
              </a:rPr>
              <a:t>제어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57800" y="3136392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A2230"/>
                </a:solidFill>
                <a:latin typeface="맑은 고딕"/>
              </a:rPr>
              <a:t>블루투스 앱+리모컨 · 1~6시간 타이머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94760" y="340156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678"/>
                </a:solidFill>
                <a:latin typeface="맑은 고딕"/>
              </a:rPr>
              <a:t>A/S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57800" y="3401568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A2230"/>
                </a:solidFill>
                <a:latin typeface="맑은 고딕"/>
              </a:rPr>
              <a:t>5년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94760" y="3685031"/>
            <a:ext cx="7589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A2230"/>
                </a:solidFill>
                <a:latin typeface="맑은 고딕"/>
              </a:rPr>
              <a:t>309,000원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160520"/>
            <a:ext cx="1097280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04671" y="4315968"/>
            <a:ext cx="2743200" cy="2066544"/>
          </a:xfrm>
          <a:prstGeom prst="roundRect">
            <a:avLst/>
          </a:prstGeom>
          <a:solidFill>
            <a:srgbClr val="F3F6FC"/>
          </a:solidFill>
          <a:ln w="19050">
            <a:solidFill>
              <a:srgbClr val="B9C6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1" y="4646615"/>
            <a:ext cx="2743200" cy="14465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>
                <a:solidFill>
                  <a:srgbClr val="7F8BA0"/>
                </a:solidFill>
                <a:latin typeface="맑은 고딕"/>
              </a:rPr>
              <a:t>🌀</a:t>
            </a:r>
          </a:p>
          <a:p>
            <a:pPr algn="ctr">
              <a:lnSpc>
                <a:spcPct val="105000"/>
              </a:lnSpc>
            </a:pPr>
            <a:r>
              <a:rPr sz="1150" b="1">
                <a:solidFill>
                  <a:srgbClr val="48566B"/>
                </a:solidFill>
                <a:latin typeface="맑은 고딕"/>
              </a:rPr>
              <a:t>실링팬</a:t>
            </a:r>
          </a:p>
          <a:p>
            <a:pPr algn="ctr">
              <a:lnSpc>
                <a:spcPct val="105000"/>
              </a:lnSpc>
            </a:pPr>
            <a:r>
              <a:rPr sz="900" b="0">
                <a:solidFill>
                  <a:srgbClr val="92A0B5"/>
                </a:solidFill>
                <a:latin typeface="맑은 고딕"/>
              </a:rPr>
              <a:t>회장 실제 사진</a:t>
            </a:r>
          </a:p>
          <a:p>
            <a:pPr algn="ctr">
              <a:lnSpc>
                <a:spcPct val="105000"/>
              </a:lnSpc>
            </a:pPr>
            <a:r>
              <a:rPr sz="850" b="1">
                <a:solidFill>
                  <a:srgbClr val="1F6FEB"/>
                </a:solidFill>
                <a:latin typeface="맑은 고딕"/>
              </a:rPr>
              <a:t>▣ AI 생성 금지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94760" y="4361688"/>
            <a:ext cx="7589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A2230"/>
                </a:solidFill>
                <a:latin typeface="맑은 고딕"/>
              </a:rPr>
              <a:t>ACRO 슬림 실링팬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94760" y="4764024"/>
            <a:ext cx="7589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F6FEB"/>
                </a:solidFill>
                <a:latin typeface="맑은 고딕"/>
              </a:rPr>
              <a:t>저천장 특화 · 합리형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94760" y="5120640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678"/>
                </a:solidFill>
                <a:latin typeface="맑은 고딕"/>
              </a:rPr>
              <a:t>몸통 높이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57800" y="5120640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A2230"/>
                </a:solidFill>
                <a:latin typeface="맑은 고딕"/>
              </a:rPr>
              <a:t>14.5cm급 초슬림 (저천장 밀착)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94760" y="5385816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678"/>
                </a:solidFill>
                <a:latin typeface="맑은 고딕"/>
              </a:rPr>
              <a:t>모터/풍속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57800" y="5385816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A2230"/>
                </a:solidFill>
                <a:latin typeface="맑은 고딕"/>
              </a:rPr>
              <a:t>BLDC DC모터 · 6단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94760" y="565099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678"/>
                </a:solidFill>
                <a:latin typeface="맑은 고딕"/>
              </a:rPr>
              <a:t>색상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57800" y="5650992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A2230"/>
                </a:solidFill>
                <a:latin typeface="맑은 고딕"/>
              </a:rPr>
              <a:t>우드톤 4색 / 조명 없음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94760" y="591616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678"/>
                </a:solidFill>
                <a:latin typeface="맑은 고딕"/>
              </a:rPr>
              <a:t>A/S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57800" y="5916168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A2230"/>
                </a:solidFill>
                <a:latin typeface="맑은 고딕"/>
              </a:rPr>
              <a:t>5년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94760" y="6199631"/>
            <a:ext cx="7589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3C2"/>
                </a:solidFill>
                <a:latin typeface="맑은 고딕"/>
              </a:rPr>
              <a:t>정상 189,000원  </a:t>
            </a:r>
            <a:r>
              <a:rPr sz="1500" b="1">
                <a:solidFill>
                  <a:srgbClr val="1A2230"/>
                </a:solidFill>
                <a:latin typeface="맑은 고딕"/>
              </a:rPr>
              <a:t>159,000원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23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F6FEB"/>
                </a:solidFill>
                <a:latin typeface="맑은 고딕"/>
              </a:rPr>
              <a:t>08  </a:t>
            </a:r>
            <a:r>
              <a:rPr sz="2600" b="1">
                <a:solidFill>
                  <a:srgbClr val="1A2230"/>
                </a:solidFill>
                <a:latin typeface="맑은 고딕"/>
              </a:rPr>
              <a:t>ACRO 제품 ② 조명·스위치·커튼·환기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2412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AEB7C6"/>
                </a:solidFill>
                <a:latin typeface="맑은 고딕"/>
              </a:rPr>
              <a:t>Lighting · Switch · Curtain · ERV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566928" cy="411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94015" y="54864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5B6678"/>
                </a:solidFill>
                <a:latin typeface="맑은 고딕"/>
              </a:rPr>
              <a:t>㈜엣지컴퍼니  |  지명원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534924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59" y="1965960"/>
            <a:ext cx="1737360" cy="1737360"/>
          </a:xfrm>
          <a:prstGeom prst="roundRect">
            <a:avLst/>
          </a:prstGeom>
          <a:solidFill>
            <a:srgbClr val="F3F6FC"/>
          </a:solidFill>
          <a:ln w="19050">
            <a:solidFill>
              <a:srgbClr val="B9C6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2243937"/>
            <a:ext cx="1737360" cy="12161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>
                <a:solidFill>
                  <a:srgbClr val="7F8BA0"/>
                </a:solidFill>
                <a:latin typeface="맑은 고딕"/>
              </a:rPr>
              <a:t>🔆</a:t>
            </a:r>
          </a:p>
          <a:p>
            <a:pPr algn="ctr">
              <a:lnSpc>
                <a:spcPct val="105000"/>
              </a:lnSpc>
            </a:pPr>
            <a:r>
              <a:rPr sz="1150" b="1">
                <a:solidFill>
                  <a:srgbClr val="48566B"/>
                </a:solidFill>
                <a:latin typeface="맑은 고딕"/>
              </a:rPr>
              <a:t>디밍</a:t>
            </a:r>
          </a:p>
          <a:p>
            <a:pPr algn="ctr">
              <a:lnSpc>
                <a:spcPct val="105000"/>
              </a:lnSpc>
            </a:pPr>
            <a:r>
              <a:rPr sz="900" b="0">
                <a:solidFill>
                  <a:srgbClr val="92A0B5"/>
                </a:solidFill>
                <a:latin typeface="맑은 고딕"/>
              </a:rPr>
              <a:t>실제 사진 우선</a:t>
            </a:r>
          </a:p>
          <a:p>
            <a:pPr algn="ctr">
              <a:lnSpc>
                <a:spcPct val="105000"/>
              </a:lnSpc>
            </a:pPr>
            <a:r>
              <a:rPr sz="850" b="1">
                <a:solidFill>
                  <a:srgbClr val="1F6FEB"/>
                </a:solidFill>
                <a:latin typeface="맑은 고딕"/>
              </a:rPr>
              <a:t>▣ 제품/공간컷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2057400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A2230"/>
                </a:solidFill>
                <a:latin typeface="맑은 고딕"/>
              </a:rPr>
              <a:t>ACRO 조명 · 디밍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2560320"/>
            <a:ext cx="3063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30" b="0">
                <a:solidFill>
                  <a:srgbClr val="5B6678"/>
                </a:solidFill>
                <a:latin typeface="맑은 고딕"/>
              </a:rPr>
              <a:t>COB 고연색 조명 + 앱/스위치로 밝기·색온도 무단계 디밍. 우물천장 간접조명 등.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347472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7A5D00"/>
                </a:solidFill>
                <a:latin typeface="맑은 고딕"/>
              </a:rPr>
              <a:t>가격/스펙 회장 확정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783080"/>
            <a:ext cx="534924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355080" y="1965960"/>
            <a:ext cx="1737360" cy="1737360"/>
          </a:xfrm>
          <a:prstGeom prst="roundRect">
            <a:avLst/>
          </a:prstGeom>
          <a:solidFill>
            <a:srgbClr val="F3F6FC"/>
          </a:solidFill>
          <a:ln w="19050">
            <a:solidFill>
              <a:srgbClr val="B9C6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2243937"/>
            <a:ext cx="1737360" cy="12161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>
                <a:solidFill>
                  <a:srgbClr val="7F8BA0"/>
                </a:solidFill>
                <a:latin typeface="맑은 고딕"/>
              </a:rPr>
              <a:t>🎛️</a:t>
            </a:r>
          </a:p>
          <a:p>
            <a:pPr algn="ctr">
              <a:lnSpc>
                <a:spcPct val="105000"/>
              </a:lnSpc>
            </a:pPr>
            <a:r>
              <a:rPr sz="1150" b="1">
                <a:solidFill>
                  <a:srgbClr val="48566B"/>
                </a:solidFill>
                <a:latin typeface="맑은 고딕"/>
              </a:rPr>
              <a:t>스위치</a:t>
            </a:r>
          </a:p>
          <a:p>
            <a:pPr algn="ctr">
              <a:lnSpc>
                <a:spcPct val="105000"/>
              </a:lnSpc>
            </a:pPr>
            <a:r>
              <a:rPr sz="900" b="0">
                <a:solidFill>
                  <a:srgbClr val="92A0B5"/>
                </a:solidFill>
                <a:latin typeface="맑은 고딕"/>
              </a:rPr>
              <a:t>실제 사진 우선</a:t>
            </a:r>
          </a:p>
          <a:p>
            <a:pPr algn="ctr">
              <a:lnSpc>
                <a:spcPct val="105000"/>
              </a:lnSpc>
            </a:pPr>
            <a:r>
              <a:rPr sz="850" b="1">
                <a:solidFill>
                  <a:srgbClr val="1F6FEB"/>
                </a:solidFill>
                <a:latin typeface="맑은 고딕"/>
              </a:rPr>
              <a:t>▣ 제품/공간컷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20" y="2057400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A2230"/>
                </a:solidFill>
                <a:latin typeface="맑은 고딕"/>
              </a:rPr>
              <a:t>ACRO 스위치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2560320"/>
            <a:ext cx="3063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30" b="0">
                <a:solidFill>
                  <a:srgbClr val="5B6678"/>
                </a:solidFill>
                <a:latin typeface="맑은 고딕"/>
              </a:rPr>
              <a:t>실링팬·조명·디밍을 통합 제어하는 스위치. 아크로로 통일되는 스마트홈 허브.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20" y="347472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7A5D00"/>
                </a:solidFill>
                <a:latin typeface="맑은 고딕"/>
              </a:rPr>
              <a:t>가격/스펙 회장 확정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069080"/>
            <a:ext cx="534924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22959" y="4251960"/>
            <a:ext cx="1737360" cy="1737360"/>
          </a:xfrm>
          <a:prstGeom prst="roundRect">
            <a:avLst/>
          </a:prstGeom>
          <a:solidFill>
            <a:srgbClr val="F3F6FC"/>
          </a:solidFill>
          <a:ln w="19050">
            <a:solidFill>
              <a:srgbClr val="B9C6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59" y="4529937"/>
            <a:ext cx="1737360" cy="12161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>
                <a:solidFill>
                  <a:srgbClr val="7F8BA0"/>
                </a:solidFill>
                <a:latin typeface="맑은 고딕"/>
              </a:rPr>
              <a:t>🪟</a:t>
            </a:r>
          </a:p>
          <a:p>
            <a:pPr algn="ctr">
              <a:lnSpc>
                <a:spcPct val="105000"/>
              </a:lnSpc>
            </a:pPr>
            <a:r>
              <a:rPr sz="1150" b="1">
                <a:solidFill>
                  <a:srgbClr val="48566B"/>
                </a:solidFill>
                <a:latin typeface="맑은 고딕"/>
              </a:rPr>
              <a:t>전동커튼</a:t>
            </a:r>
          </a:p>
          <a:p>
            <a:pPr algn="ctr">
              <a:lnSpc>
                <a:spcPct val="105000"/>
              </a:lnSpc>
            </a:pPr>
            <a:r>
              <a:rPr sz="900" b="0">
                <a:solidFill>
                  <a:srgbClr val="92A0B5"/>
                </a:solidFill>
                <a:latin typeface="맑은 고딕"/>
              </a:rPr>
              <a:t>실제 사진 우선</a:t>
            </a:r>
          </a:p>
          <a:p>
            <a:pPr algn="ctr">
              <a:lnSpc>
                <a:spcPct val="105000"/>
              </a:lnSpc>
            </a:pPr>
            <a:r>
              <a:rPr sz="850" b="1">
                <a:solidFill>
                  <a:srgbClr val="1F6FEB"/>
                </a:solidFill>
                <a:latin typeface="맑은 고딕"/>
              </a:rPr>
              <a:t>▣ 제품/공간컷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4343400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A2230"/>
                </a:solidFill>
                <a:latin typeface="맑은 고딕"/>
              </a:rPr>
              <a:t>ACRO 전동커튼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0" y="4846320"/>
            <a:ext cx="3063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30" b="0">
                <a:solidFill>
                  <a:srgbClr val="5B6678"/>
                </a:solidFill>
                <a:latin typeface="맑은 고딕"/>
              </a:rPr>
              <a:t>모터·앱 연동 전동커튼. 조명·실링팬과 함께 앱 하나로 제어.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0" y="576072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7A5D00"/>
                </a:solidFill>
                <a:latin typeface="맑은 고딕"/>
              </a:rPr>
              <a:t>가격/스펙 회장 확정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4069080"/>
            <a:ext cx="534924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355080" y="4251960"/>
            <a:ext cx="1737360" cy="1737360"/>
          </a:xfrm>
          <a:prstGeom prst="roundRect">
            <a:avLst/>
          </a:prstGeom>
          <a:solidFill>
            <a:srgbClr val="F3F6FC"/>
          </a:solidFill>
          <a:ln w="19050">
            <a:solidFill>
              <a:srgbClr val="B9C6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55080" y="4529937"/>
            <a:ext cx="1737360" cy="12161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>
                <a:solidFill>
                  <a:srgbClr val="7F8BA0"/>
                </a:solidFill>
                <a:latin typeface="맑은 고딕"/>
              </a:rPr>
              <a:t>💨</a:t>
            </a:r>
          </a:p>
          <a:p>
            <a:pPr algn="ctr">
              <a:lnSpc>
                <a:spcPct val="105000"/>
              </a:lnSpc>
            </a:pPr>
            <a:r>
              <a:rPr sz="1150" b="1">
                <a:solidFill>
                  <a:srgbClr val="48566B"/>
                </a:solidFill>
                <a:latin typeface="맑은 고딕"/>
              </a:rPr>
              <a:t>전열교환기</a:t>
            </a:r>
          </a:p>
          <a:p>
            <a:pPr algn="ctr">
              <a:lnSpc>
                <a:spcPct val="105000"/>
              </a:lnSpc>
            </a:pPr>
            <a:r>
              <a:rPr sz="900" b="0">
                <a:solidFill>
                  <a:srgbClr val="92A0B5"/>
                </a:solidFill>
                <a:latin typeface="맑은 고딕"/>
              </a:rPr>
              <a:t>실제 사진 우선</a:t>
            </a:r>
          </a:p>
          <a:p>
            <a:pPr algn="ctr">
              <a:lnSpc>
                <a:spcPct val="105000"/>
              </a:lnSpc>
            </a:pPr>
            <a:r>
              <a:rPr sz="850" b="1">
                <a:solidFill>
                  <a:srgbClr val="1F6FEB"/>
                </a:solidFill>
                <a:latin typeface="맑은 고딕"/>
              </a:rPr>
              <a:t>▣ 제품/공간컷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5320" y="4343400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A2230"/>
                </a:solidFill>
                <a:latin typeface="맑은 고딕"/>
              </a:rPr>
              <a:t>ACRO 욕실 전열교환기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4846320"/>
            <a:ext cx="3063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30" b="0">
                <a:solidFill>
                  <a:srgbClr val="5B6678"/>
                </a:solidFill>
                <a:latin typeface="맑은 고딕"/>
              </a:rPr>
              <a:t>욕실 환기·제습·열회수(ERV) 시스템. 결로·곰팡이 저감, 앱 연동 제어.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5320" y="576072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7A5D00"/>
                </a:solidFill>
                <a:latin typeface="맑은 고딕"/>
              </a:rPr>
              <a:t>가격/스펙 회장 확정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" y="6355080"/>
            <a:ext cx="10972800" cy="384048"/>
          </a:xfrm>
          <a:prstGeom prst="roundRect">
            <a:avLst/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4671" y="6464808"/>
            <a:ext cx="1064361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30" b="0">
                <a:solidFill>
                  <a:srgbClr val="3F4D63"/>
                </a:solidFill>
                <a:latin typeface="맑은 고딕"/>
              </a:rPr>
              <a:t>조명 디밍·스위치·전동커튼·욕실 전열교환기 정확 모델·스펙·가격은 회장 확정 후 채웁니다.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23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F6FEB"/>
                </a:solidFill>
                <a:latin typeface="맑은 고딕"/>
              </a:rPr>
              <a:t>09  </a:t>
            </a:r>
            <a:r>
              <a:rPr sz="2600" b="1">
                <a:solidFill>
                  <a:srgbClr val="1A2230"/>
                </a:solidFill>
                <a:latin typeface="맑은 고딕"/>
              </a:rPr>
              <a:t>ACRO 스마트홈 — 국내 최초 통합 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2412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AEB7C6"/>
                </a:solidFill>
                <a:latin typeface="맑은 고딕"/>
              </a:rPr>
              <a:t>Smart-Home System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566928" cy="411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94015" y="54864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5B6678"/>
                </a:solidFill>
                <a:latin typeface="맑은 고딕"/>
              </a:rPr>
              <a:t>㈜엣지컴퍼니  |  지명원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737360"/>
            <a:ext cx="10972800" cy="1143000"/>
          </a:xfrm>
          <a:prstGeom prst="roundRect">
            <a:avLst/>
          </a:prstGeom>
          <a:solidFill>
            <a:srgbClr val="123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74519"/>
            <a:ext cx="10424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CADCFC"/>
                </a:solidFill>
                <a:latin typeface="맑은 고딕"/>
              </a:rPr>
              <a:t>KOREA FIRST · 자체 개발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94560"/>
            <a:ext cx="10424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FFFFFF"/>
                </a:solidFill>
                <a:latin typeface="맑은 고딕"/>
              </a:rPr>
              <a:t>실링팬 · 전동커튼 · 스위치 · 조명 디밍을 하나의 앱으로 통합 제어</a:t>
            </a:r>
          </a:p>
          <a:p>
            <a:pPr algn="l">
              <a:lnSpc>
                <a:spcPct val="115000"/>
              </a:lnSpc>
            </a:pPr>
            <a:r>
              <a:rPr sz="1300" b="1">
                <a:solidFill>
                  <a:srgbClr val="CADCFC"/>
                </a:solidFill>
                <a:latin typeface="맑은 고딕"/>
              </a:rPr>
              <a:t>— 국내 최초 자체 개발 스마트홈 시스템 기술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331720" y="3108960"/>
            <a:ext cx="2377440" cy="2286000"/>
          </a:xfrm>
          <a:prstGeom prst="roundRect">
            <a:avLst/>
          </a:prstGeom>
          <a:solidFill>
            <a:srgbClr val="F3F6FC"/>
          </a:solidFill>
          <a:ln w="19050">
            <a:solidFill>
              <a:srgbClr val="B9C6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31720" y="3657600"/>
            <a:ext cx="2377440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0">
                <a:solidFill>
                  <a:srgbClr val="7F8BA0"/>
                </a:solidFill>
                <a:latin typeface="맑은 고딕"/>
              </a:rPr>
              <a:t>📱</a:t>
            </a:r>
          </a:p>
          <a:p>
            <a:pPr algn="ctr">
              <a:lnSpc>
                <a:spcPct val="120000"/>
              </a:lnSpc>
            </a:pPr>
            <a:r>
              <a:rPr sz="1150" b="1">
                <a:solidFill>
                  <a:srgbClr val="48566B"/>
                </a:solidFill>
                <a:latin typeface="맑은 고딕"/>
              </a:rPr>
              <a:t>홈 대시보드</a:t>
            </a:r>
          </a:p>
          <a:p>
            <a:pPr algn="ctr">
              <a:lnSpc>
                <a:spcPct val="120000"/>
              </a:lnSpc>
            </a:pPr>
            <a:r>
              <a:rPr sz="950" b="0">
                <a:solidFill>
                  <a:srgbClr val="92A0B5"/>
                </a:solidFill>
                <a:latin typeface="맑은 고딕"/>
              </a:rPr>
              <a:t>기기 한눈에 제어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66360" y="3108960"/>
            <a:ext cx="2377440" cy="2286000"/>
          </a:xfrm>
          <a:prstGeom prst="roundRect">
            <a:avLst/>
          </a:prstGeom>
          <a:solidFill>
            <a:srgbClr val="F3F6FC"/>
          </a:solidFill>
          <a:ln w="19050">
            <a:solidFill>
              <a:srgbClr val="B9C6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66360" y="3657600"/>
            <a:ext cx="2377440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0">
                <a:solidFill>
                  <a:srgbClr val="7F8BA0"/>
                </a:solidFill>
                <a:latin typeface="맑은 고딕"/>
              </a:rPr>
              <a:t>🌀</a:t>
            </a:r>
          </a:p>
          <a:p>
            <a:pPr algn="ctr">
              <a:lnSpc>
                <a:spcPct val="120000"/>
              </a:lnSpc>
            </a:pPr>
            <a:r>
              <a:rPr sz="1150" b="1">
                <a:solidFill>
                  <a:srgbClr val="48566B"/>
                </a:solidFill>
                <a:latin typeface="맑은 고딕"/>
              </a:rPr>
              <a:t>팬 + 조명 디밍</a:t>
            </a:r>
          </a:p>
          <a:p>
            <a:pPr algn="ctr">
              <a:lnSpc>
                <a:spcPct val="120000"/>
              </a:lnSpc>
            </a:pPr>
            <a:r>
              <a:rPr sz="950" b="0">
                <a:solidFill>
                  <a:srgbClr val="92A0B5"/>
                </a:solidFill>
                <a:latin typeface="맑은 고딕"/>
              </a:rPr>
              <a:t>풍속·밝기·색온도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01000" y="3108960"/>
            <a:ext cx="2377440" cy="2286000"/>
          </a:xfrm>
          <a:prstGeom prst="roundRect">
            <a:avLst/>
          </a:prstGeom>
          <a:solidFill>
            <a:srgbClr val="F3F6FC"/>
          </a:solidFill>
          <a:ln w="19050">
            <a:solidFill>
              <a:srgbClr val="B9C6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01000" y="3657600"/>
            <a:ext cx="2377440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0">
                <a:solidFill>
                  <a:srgbClr val="7F8BA0"/>
                </a:solidFill>
                <a:latin typeface="맑은 고딕"/>
              </a:rPr>
              <a:t>🪟</a:t>
            </a:r>
          </a:p>
          <a:p>
            <a:pPr algn="ctr">
              <a:lnSpc>
                <a:spcPct val="120000"/>
              </a:lnSpc>
            </a:pPr>
            <a:r>
              <a:rPr sz="1150" b="1">
                <a:solidFill>
                  <a:srgbClr val="48566B"/>
                </a:solidFill>
                <a:latin typeface="맑은 고딕"/>
              </a:rPr>
              <a:t>커튼·환기</a:t>
            </a:r>
          </a:p>
          <a:p>
            <a:pPr algn="ctr">
              <a:lnSpc>
                <a:spcPct val="120000"/>
              </a:lnSpc>
            </a:pPr>
            <a:r>
              <a:rPr sz="950" b="0">
                <a:solidFill>
                  <a:srgbClr val="92A0B5"/>
                </a:solidFill>
                <a:latin typeface="맑은 고딕"/>
              </a:rPr>
              <a:t>전동커튼·전열교환기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5577840"/>
            <a:ext cx="10972800" cy="457200"/>
          </a:xfrm>
          <a:prstGeom prst="roundRect">
            <a:avLst/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1" y="5687568"/>
            <a:ext cx="1064361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30" b="0">
                <a:solidFill>
                  <a:srgbClr val="3F4D63"/>
                </a:solidFill>
                <a:latin typeface="맑은 고딕"/>
              </a:rPr>
              <a:t>📸 위 3컷은 회장 실제 앱 화면 자리 (주관사PT/img/app1~3.png · Desktop\아크로 사진 · ACRO_App_Prototype_KR.html 캡처).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23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F6FEB"/>
                </a:solidFill>
                <a:latin typeface="맑은 고딕"/>
              </a:rPr>
              <a:t>10  </a:t>
            </a:r>
            <a:r>
              <a:rPr sz="2600" b="1">
                <a:solidFill>
                  <a:srgbClr val="1A2230"/>
                </a:solidFill>
                <a:latin typeface="맑은 고딕"/>
              </a:rPr>
              <a:t>왜 엣지컴퍼니인가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2412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AEB7C6"/>
                </a:solidFill>
                <a:latin typeface="맑은 고딕"/>
              </a:rPr>
              <a:t>Why Edge Company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566928" cy="411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94015" y="54864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5B6678"/>
                </a:solidFill>
                <a:latin typeface="맑은 고딕"/>
              </a:rPr>
              <a:t>㈜엣지컴퍼니  |  지명원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352044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1965960"/>
            <a:ext cx="31181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A2230"/>
                </a:solidFill>
                <a:latin typeface="맑은 고딕"/>
              </a:rPr>
              <a:t>🌀 자체 제품 제조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2350008"/>
            <a:ext cx="3118104" cy="7772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B6678"/>
                </a:solidFill>
                <a:latin typeface="맑은 고딕"/>
              </a:rPr>
              <a:t>실링팬·조명·스위치·커튼·환기를 자체 브랜드로 제조·공급. 마진·하자 일원화.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783080"/>
            <a:ext cx="352044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44568" y="1965960"/>
            <a:ext cx="31181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A2230"/>
                </a:solidFill>
                <a:latin typeface="맑은 고딕"/>
              </a:rPr>
              <a:t>📱 국내 최초 스마트홈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44568" y="2350008"/>
            <a:ext cx="3118104" cy="7772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B6678"/>
                </a:solidFill>
                <a:latin typeface="맑은 고딕"/>
              </a:rPr>
              <a:t>팬·커튼·스위치·디밍 통합 앱 자체 개발. 경쟁사가 못 따라오는 기술.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783080"/>
            <a:ext cx="352044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47888" y="1965960"/>
            <a:ext cx="31181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A2230"/>
                </a:solidFill>
                <a:latin typeface="맑은 고딕"/>
              </a:rPr>
              <a:t>💡 실내·경관 조명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47888" y="2350008"/>
            <a:ext cx="3118104" cy="7772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B6678"/>
                </a:solidFill>
                <a:latin typeface="맑은 고딕"/>
              </a:rPr>
              <a:t>주거·상업 실내조명 + 야간 경관조명 설계·시공·납품 일괄.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429000"/>
            <a:ext cx="352044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7" y="3611880"/>
            <a:ext cx="31181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A2230"/>
                </a:solidFill>
                <a:latin typeface="맑은 고딕"/>
              </a:rPr>
              <a:t>📦 공동구매 공급망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7" y="3995928"/>
            <a:ext cx="3118104" cy="7772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B6678"/>
                </a:solidFill>
                <a:latin typeface="맑은 고딕"/>
              </a:rPr>
              <a:t>'25~'26 22단지·19,294세대 공급. 사송·에코델타 90% 수임.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43400" y="3429000"/>
            <a:ext cx="352044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44568" y="3611880"/>
            <a:ext cx="31181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A2230"/>
                </a:solidFill>
                <a:latin typeface="맑은 고딕"/>
              </a:rPr>
              <a:t>📈 견실한 재무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4568" y="3995928"/>
            <a:ext cx="3118104" cy="7772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B6678"/>
                </a:solidFill>
                <a:latin typeface="맑은 고딕"/>
              </a:rPr>
              <a:t>매출 52억 · NICE D&amp;B 신용 BB · 현금흐름 A · 자본금 2억.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20" y="3429000"/>
            <a:ext cx="352044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47888" y="3611880"/>
            <a:ext cx="31181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A2230"/>
                </a:solidFill>
                <a:latin typeface="맑은 고딕"/>
              </a:rPr>
              <a:t>🌐 전국 22개 지사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47888" y="3995928"/>
            <a:ext cx="3118104" cy="7772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B6678"/>
                </a:solidFill>
                <a:latin typeface="맑은 고딕"/>
              </a:rPr>
              <a:t>본사 울산 + 전국 22개 지사망으로 현장 대응·납기 안정.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257800"/>
            <a:ext cx="10972800" cy="1234440"/>
          </a:xfrm>
          <a:prstGeom prst="roundRect">
            <a:avLst/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5440680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2347A"/>
                </a:solidFill>
                <a:latin typeface="맑은 고딕"/>
              </a:rPr>
              <a:t>건설사·시행사 협력 제안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852160"/>
            <a:ext cx="105156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33404F"/>
                </a:solidFill>
                <a:latin typeface="맑은 고딕"/>
              </a:rPr>
              <a:t>✓ 단지 ACRO 스마트홈 빌트인/옵션 패키지   ✓ 실내·경관 조명 설계·시공·납품</a:t>
            </a:r>
          </a:p>
          <a:p>
            <a:pPr algn="l">
              <a:lnSpc>
                <a:spcPct val="125000"/>
              </a:lnSpc>
            </a:pPr>
            <a:r>
              <a:rPr sz="1100" b="0">
                <a:solidFill>
                  <a:srgbClr val="33404F"/>
                </a:solidFill>
                <a:latin typeface="맑은 고딕"/>
              </a:rPr>
              <a:t>✓ 공동구매 제품 공급   ✓ 준공 후 장기 A/S 협약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23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F6FEB"/>
                </a:solidFill>
                <a:latin typeface="맑은 고딕"/>
              </a:rPr>
              <a:t>11  </a:t>
            </a:r>
            <a:r>
              <a:rPr sz="2600" b="1">
                <a:solidFill>
                  <a:srgbClr val="1A2230"/>
                </a:solidFill>
                <a:latin typeface="맑은 고딕"/>
              </a:rPr>
              <a:t>연락처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2412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AEB7C6"/>
                </a:solidFill>
                <a:latin typeface="맑은 고딕"/>
              </a:rPr>
              <a:t>Contact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566928" cy="411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94015" y="54864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5B6678"/>
                </a:solidFill>
                <a:latin typeface="맑은 고딕"/>
              </a:rPr>
              <a:t>㈜엣지컴퍼니  |  지명원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2743200" cy="475488"/>
          </a:xfrm>
          <a:prstGeom prst="rect">
            <a:avLst/>
          </a:prstGeom>
          <a:solidFill>
            <a:srgbClr val="EEF3FB"/>
          </a:solidFill>
          <a:ln w="9525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828800"/>
            <a:ext cx="256032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2347A"/>
                </a:solidFill>
                <a:latin typeface="맑은 고딕"/>
              </a:rPr>
              <a:t>대표이사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3280" y="1828800"/>
            <a:ext cx="8183879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47872" y="1828800"/>
            <a:ext cx="7955279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A2230"/>
                </a:solidFill>
                <a:latin typeface="맑은 고딕"/>
              </a:rPr>
              <a:t>고진식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304288"/>
            <a:ext cx="2743200" cy="475488"/>
          </a:xfrm>
          <a:prstGeom prst="rect">
            <a:avLst/>
          </a:prstGeom>
          <a:solidFill>
            <a:srgbClr val="EEF3FB"/>
          </a:solidFill>
          <a:ln w="9525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304288"/>
            <a:ext cx="256032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2347A"/>
                </a:solidFill>
                <a:latin typeface="맑은 고딕"/>
              </a:rPr>
              <a:t>대표번호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3280" y="2304288"/>
            <a:ext cx="8183879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47872" y="2304288"/>
            <a:ext cx="7955279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A2230"/>
                </a:solidFill>
                <a:latin typeface="맑은 고딕"/>
              </a:rPr>
              <a:t>1533-3210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2779776"/>
            <a:ext cx="2743200" cy="475488"/>
          </a:xfrm>
          <a:prstGeom prst="rect">
            <a:avLst/>
          </a:prstGeom>
          <a:solidFill>
            <a:srgbClr val="EEF3FB"/>
          </a:solidFill>
          <a:ln w="9525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2779776"/>
            <a:ext cx="256032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2347A"/>
                </a:solidFill>
                <a:latin typeface="맑은 고딕"/>
              </a:rPr>
              <a:t>대표이사 직통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83280" y="2779776"/>
            <a:ext cx="8183879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47872" y="2779776"/>
            <a:ext cx="7955279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A2230"/>
                </a:solidFill>
                <a:latin typeface="맑은 고딕"/>
              </a:rPr>
              <a:t>010-3345-6107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255264"/>
            <a:ext cx="2743200" cy="475488"/>
          </a:xfrm>
          <a:prstGeom prst="rect">
            <a:avLst/>
          </a:prstGeom>
          <a:solidFill>
            <a:srgbClr val="EEF3FB"/>
          </a:solidFill>
          <a:ln w="9525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3255264"/>
            <a:ext cx="256032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2347A"/>
                </a:solidFill>
                <a:latin typeface="맑은 고딕"/>
              </a:rPr>
              <a:t>본사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83280" y="3255264"/>
            <a:ext cx="8183879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547872" y="3255264"/>
            <a:ext cx="7955279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A2230"/>
                </a:solidFill>
                <a:latin typeface="맑은 고딕"/>
              </a:rPr>
              <a:t>울산광역시 울주군 청량읍 상남1길 28, 2동 (전국 22개 지사)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3730752"/>
            <a:ext cx="2743200" cy="475488"/>
          </a:xfrm>
          <a:prstGeom prst="rect">
            <a:avLst/>
          </a:prstGeom>
          <a:solidFill>
            <a:srgbClr val="EEF3FB"/>
          </a:solidFill>
          <a:ln w="9525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3730752"/>
            <a:ext cx="256032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2347A"/>
                </a:solidFill>
                <a:latin typeface="맑은 고딕"/>
              </a:rPr>
              <a:t>이메일/홈페이지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83280" y="3730752"/>
            <a:ext cx="8183879" cy="475488"/>
          </a:xfrm>
          <a:prstGeom prst="rect">
            <a:avLst/>
          </a:prstGeom>
          <a:solidFill>
            <a:srgbClr val="FFF7DA"/>
          </a:solidFill>
          <a:ln w="9525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47872" y="3730752"/>
            <a:ext cx="7955279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7A5D00"/>
                </a:solidFill>
                <a:latin typeface="맑은 고딕"/>
              </a:rPr>
              <a:t>[ 회장 확정 ]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4663440"/>
            <a:ext cx="10972800" cy="1554480"/>
          </a:xfrm>
          <a:prstGeom prst="roundRect">
            <a:avLst/>
          </a:prstGeom>
          <a:solidFill>
            <a:srgbClr val="123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49377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CADCFC"/>
                </a:solidFill>
                <a:latin typeface="맑은 고딕"/>
              </a:rPr>
              <a:t>EDGE COMPANY CO., LTD.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53492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맑은 고딕"/>
              </a:rPr>
              <a:t>㈜엣지컴퍼니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589788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>
                <a:solidFill>
                  <a:srgbClr val="CADCFC"/>
                </a:solidFill>
                <a:latin typeface="맑은 고딕"/>
              </a:rPr>
              <a:t>ACRO 스마트홈 제품 제조·공급 · 스마트홈 시스템 개발 · 실내/경관 조명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